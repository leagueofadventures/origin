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78" r:id="rId1"/>
  </p:sldMasterIdLst>
  <p:notesMasterIdLst>
    <p:notesMasterId r:id="rId14"/>
  </p:notesMasterIdLst>
  <p:sldIdLst>
    <p:sldId id="256" r:id="rId2"/>
    <p:sldId id="257" r:id="rId3"/>
    <p:sldId id="258" r:id="rId4"/>
    <p:sldId id="268" r:id="rId5"/>
    <p:sldId id="259" r:id="rId6"/>
    <p:sldId id="267" r:id="rId7"/>
    <p:sldId id="262" r:id="rId8"/>
    <p:sldId id="260" r:id="rId9"/>
    <p:sldId id="263" r:id="rId10"/>
    <p:sldId id="264" r:id="rId11"/>
    <p:sldId id="265" r:id="rId12"/>
    <p:sldId id="266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1AEE8C5-8279-4FDE-9148-3B4506582D84}" type="datetimeFigureOut">
              <a:rPr lang="ru-RU" smtClean="0"/>
              <a:t>23.04.2026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1071110-C687-4687-BF9B-535760648F6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744838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6"/>
          <p:cNvSpPr/>
          <p:nvPr/>
        </p:nvSpPr>
        <p:spPr bwMode="auto">
          <a:xfrm>
            <a:off x="0" y="-3175"/>
            <a:ext cx="12192000" cy="5203825"/>
          </a:xfrm>
          <a:custGeom>
            <a:avLst/>
            <a:gdLst/>
            <a:ahLst/>
            <a:cxnLst/>
            <a:rect l="0" t="0" r="r" b="b"/>
            <a:pathLst>
              <a:path w="5760" h="3278">
                <a:moveTo>
                  <a:pt x="5760" y="0"/>
                </a:moveTo>
                <a:lnTo>
                  <a:pt x="0" y="0"/>
                </a:lnTo>
                <a:lnTo>
                  <a:pt x="0" y="3090"/>
                </a:lnTo>
                <a:lnTo>
                  <a:pt x="943" y="3090"/>
                </a:lnTo>
                <a:lnTo>
                  <a:pt x="1123" y="3270"/>
                </a:lnTo>
                <a:lnTo>
                  <a:pt x="1123" y="3270"/>
                </a:lnTo>
                <a:lnTo>
                  <a:pt x="1127" y="3272"/>
                </a:lnTo>
                <a:lnTo>
                  <a:pt x="1133" y="3275"/>
                </a:lnTo>
                <a:lnTo>
                  <a:pt x="1139" y="3278"/>
                </a:lnTo>
                <a:lnTo>
                  <a:pt x="1144" y="3278"/>
                </a:lnTo>
                <a:lnTo>
                  <a:pt x="1150" y="3278"/>
                </a:lnTo>
                <a:lnTo>
                  <a:pt x="1155" y="3275"/>
                </a:lnTo>
                <a:lnTo>
                  <a:pt x="1161" y="3272"/>
                </a:lnTo>
                <a:lnTo>
                  <a:pt x="1165" y="3270"/>
                </a:lnTo>
                <a:lnTo>
                  <a:pt x="1345" y="3090"/>
                </a:lnTo>
                <a:lnTo>
                  <a:pt x="5760" y="3090"/>
                </a:lnTo>
                <a:lnTo>
                  <a:pt x="5760" y="0"/>
                </a:lnTo>
                <a:close/>
              </a:path>
            </a:pathLst>
          </a:custGeom>
          <a:ln/>
          <a:effectLst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10001" y="1449147"/>
            <a:ext cx="10572000" cy="2971051"/>
          </a:xfrm>
        </p:spPr>
        <p:txBody>
          <a:bodyPr/>
          <a:lstStyle>
            <a:lvl1pPr>
              <a:defRPr sz="54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10001" y="5280847"/>
            <a:ext cx="10572000" cy="434974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A71F59-3127-4757-A63A-AAB453B67D83}" type="datetime1">
              <a:rPr lang="ru-RU" smtClean="0"/>
              <a:t>23.04.2026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208695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8712" y="2222287"/>
            <a:ext cx="10554574" cy="3636511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F119F9-E340-4266-92B8-0820BB4259F5}" type="datetime1">
              <a:rPr lang="ru-RU" smtClean="0"/>
              <a:t>23.04.2026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740224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7"/>
          <p:cNvSpPr/>
          <p:nvPr/>
        </p:nvSpPr>
        <p:spPr bwMode="auto">
          <a:xfrm>
            <a:off x="0" y="1"/>
            <a:ext cx="12192000" cy="5203825"/>
          </a:xfrm>
          <a:custGeom>
            <a:avLst/>
            <a:gdLst/>
            <a:ahLst/>
            <a:cxnLst/>
            <a:rect l="0" t="0" r="r" b="b"/>
            <a:pathLst>
              <a:path w="5760" h="3278">
                <a:moveTo>
                  <a:pt x="0" y="0"/>
                </a:moveTo>
                <a:lnTo>
                  <a:pt x="5760" y="0"/>
                </a:lnTo>
                <a:lnTo>
                  <a:pt x="5760" y="3090"/>
                </a:lnTo>
                <a:lnTo>
                  <a:pt x="4817" y="3090"/>
                </a:lnTo>
                <a:lnTo>
                  <a:pt x="4637" y="3270"/>
                </a:lnTo>
                <a:lnTo>
                  <a:pt x="4637" y="3270"/>
                </a:lnTo>
                <a:lnTo>
                  <a:pt x="4633" y="3272"/>
                </a:lnTo>
                <a:lnTo>
                  <a:pt x="4627" y="3275"/>
                </a:lnTo>
                <a:lnTo>
                  <a:pt x="4621" y="3278"/>
                </a:lnTo>
                <a:lnTo>
                  <a:pt x="4616" y="3278"/>
                </a:lnTo>
                <a:lnTo>
                  <a:pt x="4610" y="3278"/>
                </a:lnTo>
                <a:lnTo>
                  <a:pt x="4605" y="3275"/>
                </a:lnTo>
                <a:lnTo>
                  <a:pt x="4599" y="3272"/>
                </a:lnTo>
                <a:lnTo>
                  <a:pt x="4595" y="3270"/>
                </a:lnTo>
                <a:lnTo>
                  <a:pt x="4415" y="3090"/>
                </a:lnTo>
                <a:lnTo>
                  <a:pt x="0" y="309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2951396"/>
            <a:ext cx="10561418" cy="1468800"/>
          </a:xfrm>
        </p:spPr>
        <p:txBody>
          <a:bodyPr anchor="b"/>
          <a:lstStyle>
            <a:lvl1pPr algn="r">
              <a:defRPr sz="4800" b="1" cap="none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0000" y="5281201"/>
            <a:ext cx="10561418" cy="433955"/>
          </a:xfrm>
        </p:spPr>
        <p:txBody>
          <a:bodyPr anchor="t">
            <a:noAutofit/>
          </a:bodyPr>
          <a:lstStyle>
            <a:lvl1pPr marL="0" indent="0" algn="r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F39EB-F31E-489C-A97F-AD7A520CADD5}" type="datetime1">
              <a:rPr lang="ru-RU" smtClean="0"/>
              <a:t>23.04.2026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93804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18712" y="2222287"/>
            <a:ext cx="5185873" cy="3638763"/>
          </a:xfrm>
        </p:spPr>
        <p:txBody>
          <a:bodyPr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7415" y="2222287"/>
            <a:ext cx="5194583" cy="3638764"/>
          </a:xfrm>
        </p:spPr>
        <p:txBody>
          <a:bodyPr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989BA9-C26A-4551-80E0-738107A0FE50}" type="datetime1">
              <a:rPr lang="ru-RU" smtClean="0"/>
              <a:t>23.04.2026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189957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4728" y="2174875"/>
            <a:ext cx="5189857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14729" y="2751138"/>
            <a:ext cx="5189856" cy="3109913"/>
          </a:xfrm>
        </p:spPr>
        <p:txBody>
          <a:bodyPr anchor="t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87415" y="2174875"/>
            <a:ext cx="5194583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87415" y="2751138"/>
            <a:ext cx="5194583" cy="3109913"/>
          </a:xfrm>
        </p:spPr>
        <p:txBody>
          <a:bodyPr anchor="t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4EC683-CB3C-459D-988E-2160472BA884}" type="datetime1">
              <a:rPr lang="ru-RU" smtClean="0"/>
              <a:t>23.04.2026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703561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4DD521-DB26-41F6-8483-AB657A6A1D0C}" type="datetime1">
              <a:rPr lang="ru-RU" smtClean="0"/>
              <a:t>23.04.2026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624375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469DD3-FE8B-4E72-8CFE-001708E2FC7C}" type="datetime1">
              <a:rPr lang="ru-RU" smtClean="0"/>
              <a:t>23.04.2026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880937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6"/>
          <p:cNvSpPr>
            <a:spLocks noChangeAspect="1"/>
          </p:cNvSpPr>
          <p:nvPr/>
        </p:nvSpPr>
        <p:spPr bwMode="auto">
          <a:xfrm>
            <a:off x="1073151" y="446087"/>
            <a:ext cx="3547533" cy="1814651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3151" y="446088"/>
            <a:ext cx="3547533" cy="1618396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446088"/>
            <a:ext cx="6252633" cy="5414963"/>
          </a:xfrm>
        </p:spPr>
        <p:txBody>
          <a:bodyPr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73151" y="2260738"/>
            <a:ext cx="3547533" cy="3600311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7A1B83-B00F-4940-948F-88023B3496AC}" type="datetime1">
              <a:rPr lang="ru-RU" smtClean="0"/>
              <a:t>23.04.2026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746044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4728" y="727522"/>
            <a:ext cx="4852988" cy="1617163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9" name="Picture Placeholder 11"/>
          <p:cNvSpPr>
            <a:spLocks noGrp="1" noChangeAspect="1"/>
          </p:cNvSpPr>
          <p:nvPr>
            <p:ph type="pic" sz="quarter" idx="13"/>
          </p:nvPr>
        </p:nvSpPr>
        <p:spPr bwMode="auto">
          <a:xfrm>
            <a:off x="6098117" y="0"/>
            <a:ext cx="6093883" cy="6858000"/>
          </a:xfrm>
          <a:custGeom>
            <a:avLst/>
            <a:gdLst/>
            <a:ahLst/>
            <a:cxnLst/>
            <a:rect l="0" t="0" r="r" b="b"/>
            <a:pathLst>
              <a:path w="2879" h="4320">
                <a:moveTo>
                  <a:pt x="183" y="0"/>
                </a:moveTo>
                <a:lnTo>
                  <a:pt x="183" y="1197"/>
                </a:lnTo>
                <a:lnTo>
                  <a:pt x="8" y="1372"/>
                </a:lnTo>
                <a:lnTo>
                  <a:pt x="8" y="1372"/>
                </a:lnTo>
                <a:lnTo>
                  <a:pt x="6" y="1376"/>
                </a:lnTo>
                <a:lnTo>
                  <a:pt x="3" y="1382"/>
                </a:lnTo>
                <a:lnTo>
                  <a:pt x="0" y="1387"/>
                </a:lnTo>
                <a:lnTo>
                  <a:pt x="0" y="1393"/>
                </a:lnTo>
                <a:lnTo>
                  <a:pt x="0" y="1399"/>
                </a:lnTo>
                <a:lnTo>
                  <a:pt x="3" y="1404"/>
                </a:lnTo>
                <a:lnTo>
                  <a:pt x="6" y="1410"/>
                </a:lnTo>
                <a:lnTo>
                  <a:pt x="8" y="1414"/>
                </a:lnTo>
                <a:lnTo>
                  <a:pt x="183" y="1589"/>
                </a:lnTo>
                <a:lnTo>
                  <a:pt x="183" y="4320"/>
                </a:lnTo>
                <a:lnTo>
                  <a:pt x="2879" y="4320"/>
                </a:lnTo>
                <a:lnTo>
                  <a:pt x="2879" y="0"/>
                </a:lnTo>
                <a:lnTo>
                  <a:pt x="183" y="0"/>
                </a:lnTo>
                <a:close/>
              </a:path>
            </a:pathLst>
          </a:custGeom>
          <a:noFill/>
          <a:ln w="9525">
            <a:solidFill>
              <a:schemeClr val="tx2"/>
            </a:solidFill>
            <a:round/>
            <a:headEnd/>
            <a:tailEnd/>
          </a:ln>
          <a:effectLst/>
        </p:spPr>
        <p:txBody>
          <a:bodyPr wrap="square" numCol="1" anchor="t" anchorCtr="0" compatLnSpc="1">
            <a:prstTxWarp prst="textNoShape">
              <a:avLst/>
            </a:prstTxWarp>
            <a:normAutofit/>
          </a:bodyPr>
          <a:lstStyle>
            <a:lvl1pPr algn="ctr">
              <a:buFontTx/>
              <a:buNone/>
              <a:defRPr sz="1400"/>
            </a:lvl1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14728" y="2344684"/>
            <a:ext cx="4852988" cy="3516365"/>
          </a:xfrm>
        </p:spPr>
        <p:txBody>
          <a:bodyPr anchor="t"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3885810" y="6041362"/>
            <a:ext cx="976879" cy="365125"/>
          </a:xfrm>
        </p:spPr>
        <p:txBody>
          <a:bodyPr/>
          <a:lstStyle/>
          <a:p>
            <a:fld id="{23778F88-6CFF-4336-92E6-6A88814EC16D}" type="datetime1">
              <a:rPr lang="ru-RU" smtClean="0"/>
              <a:t>23.04.2026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90396" y="6041362"/>
            <a:ext cx="3295413" cy="365125"/>
          </a:xfrm>
        </p:spPr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4862689" y="5915888"/>
            <a:ext cx="1062155" cy="490599"/>
          </a:xfrm>
        </p:spPr>
        <p:txBody>
          <a:bodyPr/>
          <a:lstStyle/>
          <a:p>
            <a:fld id="{CE008903-557F-423E-A0C0-FB24351866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30278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Панорамная фотография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4800600"/>
            <a:ext cx="10561418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15" name="Picture Placeholder 14"/>
          <p:cNvSpPr>
            <a:spLocks noGrp="1" noChangeAspect="1"/>
          </p:cNvSpPr>
          <p:nvPr>
            <p:ph type="pic" sz="quarter" idx="13"/>
          </p:nvPr>
        </p:nvSpPr>
        <p:spPr bwMode="auto">
          <a:xfrm>
            <a:off x="0" y="0"/>
            <a:ext cx="12192000" cy="4800600"/>
          </a:xfrm>
          <a:custGeom>
            <a:avLst/>
            <a:gdLst/>
            <a:ahLst/>
            <a:cxnLst/>
            <a:rect l="0" t="0" r="r" b="b"/>
            <a:pathLst>
              <a:path w="5760" h="3289">
                <a:moveTo>
                  <a:pt x="5760" y="0"/>
                </a:moveTo>
                <a:lnTo>
                  <a:pt x="0" y="0"/>
                </a:lnTo>
                <a:lnTo>
                  <a:pt x="0" y="3100"/>
                </a:lnTo>
                <a:lnTo>
                  <a:pt x="943" y="3100"/>
                </a:lnTo>
                <a:lnTo>
                  <a:pt x="1123" y="3281"/>
                </a:lnTo>
                <a:lnTo>
                  <a:pt x="1123" y="3281"/>
                </a:lnTo>
                <a:lnTo>
                  <a:pt x="1127" y="3283"/>
                </a:lnTo>
                <a:lnTo>
                  <a:pt x="1133" y="3286"/>
                </a:lnTo>
                <a:lnTo>
                  <a:pt x="1139" y="3289"/>
                </a:lnTo>
                <a:lnTo>
                  <a:pt x="1144" y="3289"/>
                </a:lnTo>
                <a:lnTo>
                  <a:pt x="1150" y="3289"/>
                </a:lnTo>
                <a:lnTo>
                  <a:pt x="1155" y="3286"/>
                </a:lnTo>
                <a:lnTo>
                  <a:pt x="1161" y="3283"/>
                </a:lnTo>
                <a:lnTo>
                  <a:pt x="1165" y="3281"/>
                </a:lnTo>
                <a:lnTo>
                  <a:pt x="1345" y="3100"/>
                </a:lnTo>
                <a:lnTo>
                  <a:pt x="5760" y="3100"/>
                </a:lnTo>
                <a:lnTo>
                  <a:pt x="5760" y="0"/>
                </a:lnTo>
                <a:close/>
              </a:path>
            </a:pathLst>
          </a:custGeom>
          <a:noFill/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numCol="1" anchor="t" anchorCtr="0" compatLnSpc="1">
            <a:prstTxWarp prst="textNoShape">
              <a:avLst/>
            </a:prstTxWarp>
            <a:normAutofit/>
          </a:bodyPr>
          <a:lstStyle>
            <a:lvl1pPr marL="0" indent="0" algn="ctr">
              <a:buFontTx/>
              <a:buNone/>
              <a:defRPr sz="1600"/>
            </a:lvl1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10000" y="5367338"/>
            <a:ext cx="10561418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92CCC3-2E42-4729-9532-228BA3D72016}" type="datetime1">
              <a:rPr lang="ru-RU" smtClean="0"/>
              <a:t>23.04.2026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276974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Цитата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 6"/>
          <p:cNvSpPr>
            <a:spLocks noChangeAspect="1"/>
          </p:cNvSpPr>
          <p:nvPr/>
        </p:nvSpPr>
        <p:spPr bwMode="auto">
          <a:xfrm>
            <a:off x="631697" y="1081456"/>
            <a:ext cx="6332416" cy="3239188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0985" y="1238502"/>
            <a:ext cx="5893840" cy="2645912"/>
          </a:xfrm>
        </p:spPr>
        <p:txBody>
          <a:bodyPr anchor="b"/>
          <a:lstStyle>
            <a:lvl1pPr algn="l">
              <a:defRPr sz="4200" b="1" cap="none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3190" y="4443680"/>
            <a:ext cx="5891636" cy="713241"/>
          </a:xfrm>
        </p:spPr>
        <p:txBody>
          <a:bodyPr anchor="t">
            <a:no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9" name="Text Placeholder 5"/>
          <p:cNvSpPr>
            <a:spLocks noGrp="1"/>
          </p:cNvSpPr>
          <p:nvPr>
            <p:ph type="body" sz="quarter" idx="16"/>
          </p:nvPr>
        </p:nvSpPr>
        <p:spPr>
          <a:xfrm>
            <a:off x="7574642" y="1081456"/>
            <a:ext cx="3810001" cy="4075465"/>
          </a:xfrm>
        </p:spPr>
        <p:txBody>
          <a:bodyPr anchor="t"/>
          <a:lstStyle>
            <a:lvl1pPr marL="0" indent="0">
              <a:buFontTx/>
              <a:buNone/>
              <a:defRPr/>
            </a:lvl1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BE8B74-8830-4018-A6A2-B009605D144E}" type="datetime1">
              <a:rPr lang="ru-RU" smtClean="0"/>
              <a:t>23.04.2026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8616545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Карточка имен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 6"/>
          <p:cNvSpPr>
            <a:spLocks noChangeAspect="1"/>
          </p:cNvSpPr>
          <p:nvPr/>
        </p:nvSpPr>
        <p:spPr bwMode="auto">
          <a:xfrm>
            <a:off x="1140884" y="2286585"/>
            <a:ext cx="4895115" cy="2503972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38" name="Title 1"/>
          <p:cNvSpPr>
            <a:spLocks noGrp="1"/>
          </p:cNvSpPr>
          <p:nvPr>
            <p:ph type="title"/>
          </p:nvPr>
        </p:nvSpPr>
        <p:spPr>
          <a:xfrm>
            <a:off x="1357089" y="2435957"/>
            <a:ext cx="4382521" cy="2007789"/>
          </a:xfrm>
        </p:spPr>
        <p:txBody>
          <a:bodyPr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6"/>
          </p:nvPr>
        </p:nvSpPr>
        <p:spPr>
          <a:xfrm>
            <a:off x="6156000" y="2286000"/>
            <a:ext cx="4880300" cy="2295525"/>
          </a:xfrm>
        </p:spPr>
        <p:txBody>
          <a:bodyPr anchor="t"/>
          <a:lstStyle>
            <a:lvl1pPr marL="0" indent="0">
              <a:buFontTx/>
              <a:buNone/>
              <a:defRPr/>
            </a:lvl1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012CA4-A079-4CC4-AF6B-41932A245552}" type="datetime1">
              <a:rPr lang="ru-RU" smtClean="0"/>
              <a:t>23.04.2026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7351960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9B7C4D-59D2-4729-9DB2-888AB4EC15B6}" type="datetime1">
              <a:rPr lang="ru-RU" smtClean="0"/>
              <a:t>23.04.2026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2727291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6"/>
          <p:cNvSpPr>
            <a:spLocks noChangeAspect="1"/>
          </p:cNvSpPr>
          <p:nvPr/>
        </p:nvSpPr>
        <p:spPr bwMode="auto">
          <a:xfrm>
            <a:off x="7669651" y="446089"/>
            <a:ext cx="4522349" cy="5414962"/>
          </a:xfrm>
          <a:custGeom>
            <a:avLst/>
            <a:gdLst/>
            <a:ahLst/>
            <a:cxnLst/>
            <a:rect l="0" t="0" r="r" b="b"/>
            <a:pathLst>
              <a:path w="2879" h="4320">
                <a:moveTo>
                  <a:pt x="183" y="0"/>
                </a:moveTo>
                <a:lnTo>
                  <a:pt x="183" y="1197"/>
                </a:lnTo>
                <a:lnTo>
                  <a:pt x="8" y="1372"/>
                </a:lnTo>
                <a:lnTo>
                  <a:pt x="8" y="1372"/>
                </a:lnTo>
                <a:lnTo>
                  <a:pt x="6" y="1376"/>
                </a:lnTo>
                <a:lnTo>
                  <a:pt x="3" y="1382"/>
                </a:lnTo>
                <a:lnTo>
                  <a:pt x="0" y="1387"/>
                </a:lnTo>
                <a:lnTo>
                  <a:pt x="0" y="1393"/>
                </a:lnTo>
                <a:lnTo>
                  <a:pt x="0" y="1399"/>
                </a:lnTo>
                <a:lnTo>
                  <a:pt x="3" y="1404"/>
                </a:lnTo>
                <a:lnTo>
                  <a:pt x="6" y="1410"/>
                </a:lnTo>
                <a:lnTo>
                  <a:pt x="8" y="1414"/>
                </a:lnTo>
                <a:lnTo>
                  <a:pt x="183" y="1589"/>
                </a:lnTo>
                <a:lnTo>
                  <a:pt x="183" y="4320"/>
                </a:lnTo>
                <a:lnTo>
                  <a:pt x="2879" y="4320"/>
                </a:lnTo>
                <a:lnTo>
                  <a:pt x="2879" y="0"/>
                </a:lnTo>
                <a:lnTo>
                  <a:pt x="183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183540" y="586171"/>
            <a:ext cx="2494791" cy="513479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0001" y="446089"/>
            <a:ext cx="6611540" cy="5414962"/>
          </a:xfrm>
        </p:spPr>
        <p:txBody>
          <a:bodyPr vert="eaVert" anchor="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1F9B7E-56FA-4D28-B297-B10CA72DE6E6}" type="datetime1">
              <a:rPr lang="ru-RU" smtClean="0"/>
              <a:t>23.04.2026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468557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  <a:prstGeom prst="rect">
            <a:avLst/>
          </a:prstGeom>
          <a:effectLst>
            <a:outerShdw blurRad="50800" dir="14400000">
              <a:srgbClr val="000000">
                <a:alpha val="60000"/>
              </a:srgbClr>
            </a:outerShdw>
          </a:effectLst>
        </p:spPr>
        <p:txBody>
          <a:bodyPr vert="horz" lIns="91440" tIns="45720" rIns="91440" bIns="45720" rtlCol="0" anchor="b">
            <a:no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0000" y="2184401"/>
            <a:ext cx="10563285" cy="3674397"/>
          </a:xfrm>
          <a:prstGeom prst="rect">
            <a:avLst/>
          </a:prstGeom>
          <a:effectLst>
            <a:outerShdw blurRad="50800" dir="14400000">
              <a:srgbClr val="000000">
                <a:alpha val="40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51514" y="6041362"/>
            <a:ext cx="8644320" cy="365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334626" y="6041362"/>
            <a:ext cx="1343706" cy="365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EFF1D0BE-CB2B-4848-82CD-7E9512932073}" type="datetime1">
              <a:rPr lang="ru-RU" smtClean="0"/>
              <a:t>23.04.2026</a:t>
            </a:fld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78331" y="5915888"/>
            <a:ext cx="1062155" cy="490599"/>
          </a:xfrm>
          <a:prstGeom prst="rect">
            <a:avLst/>
          </a:prstGeom>
        </p:spPr>
        <p:txBody>
          <a:bodyPr vert="horz" lIns="91440" tIns="45720" rIns="91440" bIns="10800" rtlCol="0" anchor="b"/>
          <a:lstStyle>
            <a:lvl1pPr algn="r">
              <a:defRPr sz="2000">
                <a:solidFill>
                  <a:schemeClr val="accent1"/>
                </a:solidFill>
              </a:defRPr>
            </a:lvl1pPr>
          </a:lstStyle>
          <a:p>
            <a:fld id="{CE008903-557F-423E-A0C0-FB24351866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43302767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</p:sldLayoutIdLst>
  <p:hf hdr="0" ftr="0" dt="0"/>
  <p:txStyles>
    <p:titleStyle>
      <a:lvl1pPr algn="l" defTabSz="457200" rtl="0" eaLnBrk="1" latinLnBrk="0" hangingPunct="1">
        <a:spcBef>
          <a:spcPct val="0"/>
        </a:spcBef>
        <a:buNone/>
        <a:defRPr sz="4000" b="1" kern="1200">
          <a:solidFill>
            <a:srgbClr val="FEFEFE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4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36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ygame.org/" TargetMode="External"/><Relationship Id="rId2" Type="http://schemas.openxmlformats.org/officeDocument/2006/relationships/hyperlink" Target="https://leonardo.ai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ga.chat/" TargetMode="Externa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0CFD07B-4D48-29D2-4701-3D7BA34CB6E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06087" y="548322"/>
            <a:ext cx="12192000" cy="2971051"/>
          </a:xfrm>
        </p:spPr>
        <p:txBody>
          <a:bodyPr/>
          <a:lstStyle/>
          <a:p>
            <a:pPr algn="ctr">
              <a:lnSpc>
                <a:spcPct val="150000"/>
              </a:lnSpc>
            </a:pPr>
            <a:br>
              <a:rPr lang="ru-RU" sz="2000" dirty="0">
                <a:ea typeface="Times New Roman"/>
                <a:cs typeface="Times New Roman"/>
              </a:rPr>
            </a:br>
            <a:r>
              <a:rPr lang="ru-RU" sz="2000" dirty="0">
                <a:ea typeface="Times New Roman"/>
                <a:cs typeface="Times New Roman"/>
              </a:rPr>
              <a:t>«МНОГОПОЛЬЗОВАТЕЛЬСКАЯ </a:t>
            </a:r>
            <a:r>
              <a:rPr lang="en-US" sz="2000" dirty="0">
                <a:ea typeface="Times New Roman"/>
                <a:cs typeface="Times New Roman"/>
              </a:rPr>
              <a:t>2D</a:t>
            </a:r>
            <a:r>
              <a:rPr lang="ru-RU" sz="2000" dirty="0">
                <a:ea typeface="Times New Roman"/>
                <a:cs typeface="Times New Roman"/>
              </a:rPr>
              <a:t> ОНЛАЙН ИГРА </a:t>
            </a:r>
            <a:br>
              <a:rPr lang="ru-RU" sz="2000" dirty="0">
                <a:ea typeface="Times New Roman"/>
                <a:cs typeface="Times New Roman"/>
              </a:rPr>
            </a:br>
            <a:r>
              <a:rPr lang="ru-RU" sz="2000" dirty="0">
                <a:ea typeface="Times New Roman"/>
                <a:cs typeface="Times New Roman"/>
              </a:rPr>
              <a:t>С КЛИЕНТ-СЕРВЕРНОЙ АРХИТЕКТУРОЙ»</a:t>
            </a:r>
            <a:br>
              <a:rPr lang="ru-RU" spc="-10" dirty="0">
                <a:solidFill>
                  <a:schemeClr val="tx1"/>
                </a:solidFill>
                <a:ea typeface="Times New Roman"/>
                <a:cs typeface="Times New Roman"/>
              </a:rPr>
            </a:br>
            <a:endParaRPr lang="ru-RU" dirty="0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E234D390-397F-875E-3B5A-9EB59DD0E66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373666" y="4813430"/>
            <a:ext cx="6818334" cy="2255426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ru-RU" sz="1600" dirty="0">
                <a:ea typeface="Calibri" panose="020F0502020204030204" pitchFamily="34" charset="0"/>
                <a:cs typeface="Calibri" panose="020F0502020204030204" pitchFamily="34" charset="0"/>
              </a:rPr>
              <a:t>Участники: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ru-RU" sz="1600" dirty="0">
                <a:ea typeface="Calibri" panose="020F0502020204030204" pitchFamily="34" charset="0"/>
                <a:cs typeface="Calibri" panose="020F0502020204030204" pitchFamily="34" charset="0"/>
              </a:rPr>
              <a:t>Ученик 8 «П» класса ГБОУ Школа </a:t>
            </a:r>
            <a:r>
              <a:rPr lang="ru-RU" sz="1600" spc="-10" dirty="0">
                <a:ea typeface="Calibri" panose="020F0502020204030204" pitchFamily="34" charset="0"/>
                <a:cs typeface="Calibri" panose="020F0502020204030204" pitchFamily="34" charset="0"/>
              </a:rPr>
              <a:t>№2065</a:t>
            </a:r>
            <a:r>
              <a:rPr lang="en-US" sz="1600" spc="-10" dirty="0"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ru-RU" sz="1600" spc="-10" dirty="0">
                <a:ea typeface="Calibri" panose="020F0502020204030204" pitchFamily="34" charset="0"/>
                <a:cs typeface="Calibri" panose="020F0502020204030204" pitchFamily="34" charset="0"/>
              </a:rPr>
              <a:t>Леонов Ярослав Александрович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ru-RU" sz="1600" dirty="0">
                <a:ea typeface="Calibri" panose="020F0502020204030204" pitchFamily="34" charset="0"/>
                <a:cs typeface="Calibri" panose="020F0502020204030204" pitchFamily="34" charset="0"/>
              </a:rPr>
              <a:t>Ученик 8 «Б» класса ГБОУ Школа </a:t>
            </a:r>
            <a:r>
              <a:rPr lang="ru-RU" sz="1600" spc="-10" dirty="0">
                <a:ea typeface="Calibri" panose="020F0502020204030204" pitchFamily="34" charset="0"/>
                <a:cs typeface="Calibri" panose="020F0502020204030204" pitchFamily="34" charset="0"/>
              </a:rPr>
              <a:t>№ 2065 </a:t>
            </a:r>
            <a:r>
              <a:rPr lang="ru-RU" sz="1600" spc="-10" dirty="0" err="1">
                <a:ea typeface="Calibri" panose="020F0502020204030204" pitchFamily="34" charset="0"/>
                <a:cs typeface="Calibri" panose="020F0502020204030204" pitchFamily="34" charset="0"/>
              </a:rPr>
              <a:t>Мацнев</a:t>
            </a:r>
            <a:r>
              <a:rPr lang="ru-RU" sz="1600" spc="-10" dirty="0">
                <a:ea typeface="Calibri" panose="020F0502020204030204" pitchFamily="34" charset="0"/>
                <a:cs typeface="Calibri" panose="020F0502020204030204" pitchFamily="34" charset="0"/>
              </a:rPr>
              <a:t> Илья Антонович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lang="ru-RU" sz="1600" spc="-10" dirty="0">
                <a:ea typeface="Calibri" panose="020F0502020204030204" pitchFamily="34" charset="0"/>
                <a:cs typeface="Calibri" panose="020F0502020204030204" pitchFamily="34" charset="0"/>
              </a:rPr>
              <a:t>Руководители: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ru-RU" sz="1600" spc="-10" dirty="0">
                <a:ea typeface="Calibri" panose="020F0502020204030204" pitchFamily="34" charset="0"/>
                <a:cs typeface="Calibri" panose="020F0502020204030204" pitchFamily="34" charset="0"/>
              </a:rPr>
              <a:t>Педагог ГБОУ Школа № 2065 Кирсанов Максим Григорьевич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ru-RU" sz="1600" spc="-10" dirty="0">
                <a:ea typeface="Calibri" panose="020F0502020204030204" pitchFamily="34" charset="0"/>
                <a:cs typeface="Calibri" panose="020F0502020204030204" pitchFamily="34" charset="0"/>
              </a:rPr>
              <a:t>Педагог ГБОУ Школа № 2065 </a:t>
            </a:r>
            <a:r>
              <a:rPr lang="ru-RU" sz="1600" spc="-10" dirty="0" err="1">
                <a:ea typeface="Calibri" panose="020F0502020204030204" pitchFamily="34" charset="0"/>
                <a:cs typeface="Calibri" panose="020F0502020204030204" pitchFamily="34" charset="0"/>
              </a:rPr>
              <a:t>Амбеталь</a:t>
            </a:r>
            <a:r>
              <a:rPr lang="ru-RU" sz="1600" spc="-10" dirty="0">
                <a:ea typeface="Calibri" panose="020F0502020204030204" pitchFamily="34" charset="0"/>
                <a:cs typeface="Calibri" panose="020F0502020204030204" pitchFamily="34" charset="0"/>
              </a:rPr>
              <a:t> Андрей Игоревич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5E34853-C0EC-A13F-1086-8B2BA0B5751A}"/>
              </a:ext>
            </a:extLst>
          </p:cNvPr>
          <p:cNvSpPr txBox="1"/>
          <p:nvPr/>
        </p:nvSpPr>
        <p:spPr>
          <a:xfrm>
            <a:off x="2247103" y="548322"/>
            <a:ext cx="748562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000" b="1" spc="-25" dirty="0">
                <a:latin typeface="+mj-lt"/>
                <a:ea typeface="Times New Roman"/>
                <a:cs typeface="Times New Roman"/>
              </a:rPr>
              <a:t>Государственное</a:t>
            </a:r>
            <a:r>
              <a:rPr lang="ru-RU" sz="2000" b="1" spc="-80" dirty="0">
                <a:latin typeface="+mj-lt"/>
                <a:ea typeface="Times New Roman"/>
                <a:cs typeface="Times New Roman"/>
              </a:rPr>
              <a:t> </a:t>
            </a:r>
            <a:r>
              <a:rPr lang="ru-RU" sz="2000" b="1" spc="-10" dirty="0">
                <a:latin typeface="+mj-lt"/>
                <a:ea typeface="Times New Roman"/>
                <a:cs typeface="Times New Roman"/>
              </a:rPr>
              <a:t>бюджетное</a:t>
            </a:r>
            <a:r>
              <a:rPr lang="ru-RU" sz="2000" b="1" spc="-40" dirty="0">
                <a:latin typeface="+mj-lt"/>
                <a:ea typeface="Times New Roman"/>
                <a:cs typeface="Times New Roman"/>
              </a:rPr>
              <a:t> </a:t>
            </a:r>
            <a:r>
              <a:rPr lang="ru-RU" sz="2000" b="1" spc="-10" dirty="0">
                <a:latin typeface="+mj-lt"/>
                <a:ea typeface="Times New Roman"/>
                <a:cs typeface="Times New Roman"/>
              </a:rPr>
              <a:t>общеобразовательное</a:t>
            </a:r>
            <a:r>
              <a:rPr lang="ru-RU" sz="2000" b="1" spc="-65" dirty="0">
                <a:latin typeface="+mj-lt"/>
                <a:ea typeface="Times New Roman"/>
                <a:cs typeface="Times New Roman"/>
              </a:rPr>
              <a:t> </a:t>
            </a:r>
            <a:r>
              <a:rPr lang="ru-RU" sz="2000" b="1" spc="-10" dirty="0">
                <a:latin typeface="+mj-lt"/>
                <a:ea typeface="Times New Roman"/>
                <a:cs typeface="Times New Roman"/>
              </a:rPr>
              <a:t>учреждение города</a:t>
            </a:r>
            <a:r>
              <a:rPr lang="ru-RU" sz="2000" b="1" spc="-60" dirty="0">
                <a:latin typeface="+mj-lt"/>
                <a:ea typeface="Times New Roman"/>
                <a:cs typeface="Times New Roman"/>
              </a:rPr>
              <a:t> </a:t>
            </a:r>
            <a:r>
              <a:rPr lang="ru-RU" sz="2000" b="1" dirty="0">
                <a:latin typeface="+mj-lt"/>
                <a:ea typeface="Times New Roman"/>
                <a:cs typeface="Times New Roman"/>
              </a:rPr>
              <a:t>Москвы</a:t>
            </a:r>
            <a:r>
              <a:rPr lang="ru-RU" sz="2000" b="1" spc="-70" dirty="0">
                <a:latin typeface="+mj-lt"/>
                <a:ea typeface="Times New Roman"/>
                <a:cs typeface="Times New Roman"/>
              </a:rPr>
              <a:t> </a:t>
            </a:r>
            <a:r>
              <a:rPr lang="ru-RU" sz="2000" b="1" dirty="0">
                <a:latin typeface="+mj-lt"/>
                <a:ea typeface="Times New Roman"/>
                <a:cs typeface="Times New Roman"/>
              </a:rPr>
              <a:t>«Школа</a:t>
            </a:r>
            <a:r>
              <a:rPr lang="ru-RU" sz="2000" b="1" spc="-70" dirty="0">
                <a:latin typeface="+mj-lt"/>
                <a:ea typeface="Times New Roman"/>
                <a:cs typeface="Times New Roman"/>
              </a:rPr>
              <a:t> </a:t>
            </a:r>
            <a:r>
              <a:rPr lang="ru-RU" sz="2000" b="1" dirty="0">
                <a:latin typeface="+mj-lt"/>
                <a:ea typeface="Times New Roman"/>
                <a:cs typeface="Times New Roman"/>
              </a:rPr>
              <a:t>№</a:t>
            </a:r>
            <a:r>
              <a:rPr lang="ru-RU" sz="2000" b="1" spc="-50" dirty="0">
                <a:latin typeface="+mj-lt"/>
                <a:ea typeface="Times New Roman"/>
                <a:cs typeface="Times New Roman"/>
              </a:rPr>
              <a:t> </a:t>
            </a:r>
            <a:r>
              <a:rPr lang="ru-RU" sz="2000" b="1" spc="-10" dirty="0">
                <a:latin typeface="+mj-lt"/>
                <a:ea typeface="Times New Roman"/>
                <a:cs typeface="Times New Roman"/>
              </a:rPr>
              <a:t>2065»</a:t>
            </a:r>
          </a:p>
          <a:p>
            <a:pPr algn="ctr"/>
            <a:endParaRPr lang="ru-RU" sz="200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820293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E33AD8-B839-68D4-4E33-017D9F57DE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/>
              <a:t>Введение и актуальность проектной работы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1A00C50-7C60-CC11-FD53-2EFA43BD2D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3999" y="2317066"/>
            <a:ext cx="11207999" cy="3985259"/>
          </a:xfrm>
        </p:spPr>
        <p:txBody>
          <a:bodyPr>
            <a:noAutofit/>
          </a:bodyPr>
          <a:lstStyle/>
          <a:p>
            <a:pPr algn="just">
              <a:lnSpc>
                <a:spcPct val="130000"/>
              </a:lnSpc>
            </a:pPr>
            <a:r>
              <a:rPr lang="ru-RU" sz="2000" dirty="0"/>
              <a:t>Мы живем в </a:t>
            </a:r>
            <a:r>
              <a:rPr lang="en-US" sz="2000" dirty="0"/>
              <a:t>XXI</a:t>
            </a:r>
            <a:r>
              <a:rPr lang="ru-RU" sz="2000" dirty="0"/>
              <a:t> веке – веке компьютерных технологий. Сейчас востребованными сферами являются разработчики приложений и игр. Одним из простых и современных языков является </a:t>
            </a:r>
            <a:r>
              <a:rPr lang="en-US" sz="2000" dirty="0"/>
              <a:t>Python</a:t>
            </a:r>
            <a:r>
              <a:rPr lang="ru-RU" sz="2000" dirty="0"/>
              <a:t>.</a:t>
            </a:r>
          </a:p>
          <a:p>
            <a:pPr algn="just">
              <a:lnSpc>
                <a:spcPct val="130000"/>
              </a:lnSpc>
            </a:pPr>
            <a:r>
              <a:rPr lang="ru-RU" sz="2000" dirty="0"/>
              <a:t>Язык «</a:t>
            </a:r>
            <a:r>
              <a:rPr lang="en-US" sz="2000" dirty="0"/>
              <a:t>Go</a:t>
            </a:r>
            <a:r>
              <a:rPr lang="ru-RU" sz="2000" dirty="0"/>
              <a:t>» известен своей простотой, высокой производительностью и эффективностью, что делает его идеальным для создания веб-сервисов, серверных приложений и облачной инфраструктуры.</a:t>
            </a:r>
          </a:p>
          <a:p>
            <a:pPr algn="just">
              <a:lnSpc>
                <a:spcPct val="130000"/>
              </a:lnSpc>
            </a:pPr>
            <a:r>
              <a:rPr lang="ru-RU" sz="2000" dirty="0"/>
              <a:t>Мы разработали игру «</a:t>
            </a:r>
            <a:r>
              <a:rPr lang="en-US" sz="2000" dirty="0"/>
              <a:t>League of adventures</a:t>
            </a:r>
            <a:r>
              <a:rPr lang="ru-RU" sz="2000" dirty="0"/>
              <a:t>» на языках «</a:t>
            </a:r>
            <a:r>
              <a:rPr lang="en-US" sz="2000" dirty="0"/>
              <a:t>python</a:t>
            </a:r>
            <a:r>
              <a:rPr lang="ru-RU" sz="2000" dirty="0"/>
              <a:t>» для клиента и «</a:t>
            </a:r>
            <a:r>
              <a:rPr lang="en-US" sz="2000" dirty="0"/>
              <a:t>Go</a:t>
            </a:r>
            <a:r>
              <a:rPr lang="ru-RU" sz="2000" dirty="0"/>
              <a:t>» для сервера, с использованием </a:t>
            </a:r>
            <a:r>
              <a:rPr lang="en-US" sz="2000" dirty="0"/>
              <a:t>python </a:t>
            </a:r>
            <a:r>
              <a:rPr lang="ru-RU" sz="2000" dirty="0"/>
              <a:t>библиотек «</a:t>
            </a:r>
            <a:r>
              <a:rPr lang="en-US" sz="2000" dirty="0" err="1"/>
              <a:t>pygame</a:t>
            </a:r>
            <a:r>
              <a:rPr lang="ru-RU" sz="2000" dirty="0"/>
              <a:t>», «</a:t>
            </a:r>
            <a:r>
              <a:rPr lang="en-US" sz="2000" dirty="0" err="1"/>
              <a:t>websocket</a:t>
            </a:r>
            <a:r>
              <a:rPr lang="ru-RU" sz="2000" dirty="0"/>
              <a:t>», «</a:t>
            </a:r>
            <a:r>
              <a:rPr lang="en-US" sz="2000" dirty="0" err="1"/>
              <a:t>pytmx</a:t>
            </a:r>
            <a:r>
              <a:rPr lang="ru-RU" sz="2000" dirty="0"/>
              <a:t>»; а также с использованием пользовательской библиотеки </a:t>
            </a:r>
            <a:r>
              <a:rPr lang="en-US" sz="2000" dirty="0" err="1"/>
              <a:t>golang</a:t>
            </a:r>
            <a:r>
              <a:rPr lang="ru-RU" sz="2000" dirty="0"/>
              <a:t> «</a:t>
            </a:r>
            <a:r>
              <a:rPr lang="en-US" sz="2000" dirty="0"/>
              <a:t>gorilla</a:t>
            </a:r>
            <a:r>
              <a:rPr lang="ru-RU" sz="2000" dirty="0"/>
              <a:t>/</a:t>
            </a:r>
            <a:r>
              <a:rPr lang="en-US" sz="2000" dirty="0" err="1"/>
              <a:t>websocket</a:t>
            </a:r>
            <a:r>
              <a:rPr lang="ru-RU" sz="2000" dirty="0"/>
              <a:t>» для соединения сервера с клиентами.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772577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F22483B-90ED-08EE-53AA-77FC3BC13A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/>
              <a:t>Новизна, цель и задачи проектной работы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0EED16F-6FF6-8A2E-3D3E-D5FA9E81F5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54265" y="2323578"/>
            <a:ext cx="11521843" cy="4697260"/>
          </a:xfrm>
        </p:spPr>
        <p:txBody>
          <a:bodyPr>
            <a:noAutofit/>
          </a:bodyPr>
          <a:lstStyle/>
          <a:p>
            <a:pPr algn="just">
              <a:spcBef>
                <a:spcPts val="0"/>
              </a:spcBef>
              <a:spcAft>
                <a:spcPts val="300"/>
              </a:spcAft>
            </a:pPr>
            <a:r>
              <a:rPr lang="ru-RU" sz="2000" b="1" dirty="0"/>
              <a:t>Цель</a:t>
            </a:r>
            <a:r>
              <a:rPr lang="en-US" sz="2000" dirty="0"/>
              <a:t>: </a:t>
            </a:r>
            <a:r>
              <a:rPr lang="ru-RU" sz="2000" dirty="0"/>
              <a:t>Разработать прототип многопользовательской онлайн 2D-игры на «</a:t>
            </a:r>
            <a:r>
              <a:rPr lang="en-US" sz="2000" dirty="0"/>
              <a:t>python</a:t>
            </a:r>
            <a:r>
              <a:rPr lang="ru-RU" sz="2000" dirty="0"/>
              <a:t>» с клиент-серверной архитектурой, демонстрирующий реализацию сетевого взаимодействия в реальном времени, управление игровым состоянием на сервере и отзывчивый графический интерфейс в клиенте.</a:t>
            </a:r>
          </a:p>
          <a:p>
            <a:r>
              <a:rPr lang="ru-RU" sz="2000" b="1" dirty="0"/>
              <a:t>Задачи</a:t>
            </a:r>
            <a:r>
              <a:rPr lang="en-US" sz="2000" dirty="0"/>
              <a:t>: 	</a:t>
            </a:r>
          </a:p>
          <a:p>
            <a:pPr lvl="1">
              <a:spcBef>
                <a:spcPts val="0"/>
              </a:spcBef>
              <a:spcAft>
                <a:spcPts val="200"/>
              </a:spcAft>
              <a:buFont typeface="+mj-lt"/>
              <a:buAutoNum type="arabicPeriod"/>
            </a:pPr>
            <a:r>
              <a:rPr lang="ru-RU" sz="2000" dirty="0"/>
              <a:t>Изучение теоретической литературы;</a:t>
            </a:r>
          </a:p>
          <a:p>
            <a:pPr lvl="1">
              <a:spcBef>
                <a:spcPts val="0"/>
              </a:spcBef>
              <a:spcAft>
                <a:spcPts val="200"/>
              </a:spcAft>
              <a:buFont typeface="+mj-lt"/>
              <a:buAutoNum type="arabicPeriod"/>
            </a:pPr>
            <a:r>
              <a:rPr lang="ru-RU" sz="2000" dirty="0"/>
              <a:t>Разработка алгоритма работы игры;</a:t>
            </a:r>
          </a:p>
          <a:p>
            <a:pPr lvl="1">
              <a:spcBef>
                <a:spcPts val="0"/>
              </a:spcBef>
              <a:spcAft>
                <a:spcPts val="200"/>
              </a:spcAft>
              <a:buFont typeface="+mj-lt"/>
              <a:buAutoNum type="arabicPeriod"/>
            </a:pPr>
            <a:r>
              <a:rPr lang="ru-RU" sz="2000" dirty="0"/>
              <a:t>Написание кода игры;</a:t>
            </a:r>
          </a:p>
          <a:p>
            <a:pPr lvl="1">
              <a:spcBef>
                <a:spcPts val="0"/>
              </a:spcBef>
              <a:spcAft>
                <a:spcPts val="200"/>
              </a:spcAft>
              <a:buFont typeface="+mj-lt"/>
              <a:buAutoNum type="arabicPeriod"/>
            </a:pPr>
            <a:r>
              <a:rPr lang="ru-RU" sz="2000" dirty="0"/>
              <a:t>Создание </a:t>
            </a:r>
            <a:r>
              <a:rPr lang="en-US" sz="2000" dirty="0" err="1"/>
              <a:t>tmx</a:t>
            </a:r>
            <a:r>
              <a:rPr lang="en-US" sz="2000" dirty="0"/>
              <a:t>-</a:t>
            </a:r>
            <a:r>
              <a:rPr lang="ru-RU" sz="2000" dirty="0"/>
              <a:t>карты;</a:t>
            </a:r>
          </a:p>
          <a:p>
            <a:pPr lvl="1">
              <a:spcBef>
                <a:spcPts val="0"/>
              </a:spcBef>
              <a:buFont typeface="+mj-lt"/>
              <a:buAutoNum type="arabicPeriod"/>
            </a:pPr>
            <a:r>
              <a:rPr lang="ru-RU" sz="2000" dirty="0"/>
              <a:t>Генерация картинок в нейронных сетях.</a:t>
            </a:r>
            <a:endParaRPr lang="en-US" sz="2000" dirty="0"/>
          </a:p>
          <a:p>
            <a:pPr algn="just">
              <a:spcBef>
                <a:spcPts val="0"/>
              </a:spcBef>
            </a:pPr>
            <a:r>
              <a:rPr lang="ru-RU" sz="2000" b="1" dirty="0"/>
              <a:t>Новизна</a:t>
            </a:r>
            <a:r>
              <a:rPr lang="en-US" sz="2000" dirty="0"/>
              <a:t>: </a:t>
            </a:r>
            <a:r>
              <a:rPr lang="ru-RU" sz="2000" dirty="0"/>
              <a:t>Новизна проектной работы заключается в исследовании и реализации клиент-серверной архитектуры, где высокопроизводительный сервер реального времени, написанный на языке «Go» взаимодействует с быстрым для прототипирования клиентом на языке «python».</a:t>
            </a:r>
          </a:p>
          <a:p>
            <a:pPr marL="0" indent="0">
              <a:buNone/>
            </a:pPr>
            <a:endParaRPr lang="en-US" sz="2000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3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2808875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F22483B-90ED-08EE-53AA-77FC3BC13A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/>
              <a:t>Новизна, цель и задачи проектной работы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0EED16F-6FF6-8A2E-3D3E-D5FA9E81F5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54265" y="2323578"/>
            <a:ext cx="11521843" cy="4697260"/>
          </a:xfrm>
        </p:spPr>
        <p:txBody>
          <a:bodyPr>
            <a:noAutofit/>
          </a:bodyPr>
          <a:lstStyle/>
          <a:p>
            <a:pPr algn="just">
              <a:spcBef>
                <a:spcPts val="0"/>
              </a:spcBef>
              <a:spcAft>
                <a:spcPts val="300"/>
              </a:spcAft>
            </a:pPr>
            <a:r>
              <a:rPr lang="ru-RU" sz="2000" b="1" dirty="0"/>
              <a:t>Цель</a:t>
            </a:r>
            <a:r>
              <a:rPr lang="en-US" sz="2000" dirty="0"/>
              <a:t>: </a:t>
            </a:r>
            <a:r>
              <a:rPr lang="ru-RU" sz="2000" dirty="0"/>
              <a:t>Разработать прототип многопользовательской онлайн 2D-игры на «</a:t>
            </a:r>
            <a:r>
              <a:rPr lang="en-US" sz="2000" dirty="0"/>
              <a:t>python</a:t>
            </a:r>
            <a:r>
              <a:rPr lang="ru-RU" sz="2000" dirty="0"/>
              <a:t>» с клиент-серверной архитектурой, демонстрирующий реализацию сетевого взаимодействия в реальном времени, управление игровым состоянием на сервере и отзывчивый графический интерфейс в клиенте.</a:t>
            </a:r>
          </a:p>
          <a:p>
            <a:r>
              <a:rPr lang="ru-RU" sz="2000" b="1" dirty="0"/>
              <a:t>Задачи</a:t>
            </a:r>
            <a:r>
              <a:rPr lang="en-US" sz="2000" dirty="0"/>
              <a:t>: 	</a:t>
            </a:r>
          </a:p>
          <a:p>
            <a:pPr lvl="1">
              <a:spcBef>
                <a:spcPts val="0"/>
              </a:spcBef>
              <a:spcAft>
                <a:spcPts val="200"/>
              </a:spcAft>
              <a:buFont typeface="+mj-lt"/>
              <a:buAutoNum type="arabicPeriod"/>
            </a:pPr>
            <a:r>
              <a:rPr lang="ru-RU" sz="2000" dirty="0"/>
              <a:t>Изучение теоретической литературы;</a:t>
            </a:r>
          </a:p>
          <a:p>
            <a:pPr lvl="1">
              <a:spcBef>
                <a:spcPts val="0"/>
              </a:spcBef>
              <a:spcAft>
                <a:spcPts val="200"/>
              </a:spcAft>
              <a:buFont typeface="+mj-lt"/>
              <a:buAutoNum type="arabicPeriod"/>
            </a:pPr>
            <a:r>
              <a:rPr lang="ru-RU" sz="2000" dirty="0"/>
              <a:t>Разработка алгоритма работы игры;</a:t>
            </a:r>
          </a:p>
          <a:p>
            <a:pPr lvl="1">
              <a:spcBef>
                <a:spcPts val="0"/>
              </a:spcBef>
              <a:spcAft>
                <a:spcPts val="200"/>
              </a:spcAft>
              <a:buFont typeface="+mj-lt"/>
              <a:buAutoNum type="arabicPeriod"/>
            </a:pPr>
            <a:r>
              <a:rPr lang="ru-RU" sz="2000" dirty="0"/>
              <a:t>Написание кода игры;</a:t>
            </a:r>
          </a:p>
          <a:p>
            <a:pPr lvl="1">
              <a:spcBef>
                <a:spcPts val="0"/>
              </a:spcBef>
              <a:spcAft>
                <a:spcPts val="200"/>
              </a:spcAft>
              <a:buFont typeface="+mj-lt"/>
              <a:buAutoNum type="arabicPeriod"/>
            </a:pPr>
            <a:r>
              <a:rPr lang="ru-RU" sz="2000" dirty="0"/>
              <a:t>Создание </a:t>
            </a:r>
            <a:r>
              <a:rPr lang="en-US" sz="2000" dirty="0" err="1"/>
              <a:t>tmx</a:t>
            </a:r>
            <a:r>
              <a:rPr lang="en-US" sz="2000" dirty="0"/>
              <a:t>-</a:t>
            </a:r>
            <a:r>
              <a:rPr lang="ru-RU" sz="2000" dirty="0"/>
              <a:t>карты;</a:t>
            </a:r>
          </a:p>
          <a:p>
            <a:pPr lvl="1">
              <a:spcBef>
                <a:spcPts val="0"/>
              </a:spcBef>
              <a:buFont typeface="+mj-lt"/>
              <a:buAutoNum type="arabicPeriod"/>
            </a:pPr>
            <a:r>
              <a:rPr lang="ru-RU" sz="2000" dirty="0"/>
              <a:t>Генерация картинок в нейронных сетях.</a:t>
            </a:r>
            <a:endParaRPr lang="en-US" sz="2000" dirty="0"/>
          </a:p>
          <a:p>
            <a:pPr algn="just">
              <a:spcBef>
                <a:spcPts val="0"/>
              </a:spcBef>
            </a:pPr>
            <a:r>
              <a:rPr lang="ru-RU" sz="2000" b="1" dirty="0"/>
              <a:t>Новизна</a:t>
            </a:r>
            <a:r>
              <a:rPr lang="en-US" sz="2000" dirty="0"/>
              <a:t>: </a:t>
            </a:r>
            <a:r>
              <a:rPr lang="ru-RU" sz="2000" dirty="0"/>
              <a:t>Новизна проектной работы заключается в исследовании и реализации клиент-серверной архитектуры, где высокопроизводительный сервер реального времени, написанный на языке «Go» взаимодействует с быстрым для прототипирования клиентом на языке «python».</a:t>
            </a:r>
          </a:p>
          <a:p>
            <a:pPr marL="0" indent="0">
              <a:buNone/>
            </a:pPr>
            <a:endParaRPr lang="en-US" sz="2000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4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241415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88F6B72-DCCD-127E-AEA9-E5C5007569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/>
              <a:t>Обзор существующих аналогов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CBAEA73-2223-9A1A-037D-2D480CAED4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0236" y="2267554"/>
            <a:ext cx="6152456" cy="4227191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ru-RU" sz="2000" dirty="0"/>
              <a:t>Один из аналогов нашего проекта – игра «Hammerwatch» </a:t>
            </a:r>
            <a:r>
              <a:rPr lang="en-US" sz="2000" dirty="0"/>
              <a:t>[1]</a:t>
            </a:r>
            <a:r>
              <a:rPr lang="ru-RU" sz="2000" dirty="0"/>
              <a:t>. Она представляет собой динамичный экшен в жанре экшен-РПГ. Игрокам предстоит исследовать мрачные подземелья, состоящие из множества комнат и уровней. В процессе прохождения игроки собирают золото и ресурсы, которые можно тратить на улучшение характеристик персонажа, покупку зелий и специальных предметов</a:t>
            </a:r>
            <a:r>
              <a:rPr lang="en-US" sz="2000" dirty="0"/>
              <a:t>. </a:t>
            </a:r>
            <a:r>
              <a:rPr lang="ru-RU" sz="2000" dirty="0"/>
              <a:t>Особенностью Hammerwatch является кооперативный мультиплеер, поддерживающий до четырех игроков одновременно.  </a:t>
            </a:r>
          </a:p>
          <a:p>
            <a:pPr marL="0" indent="0">
              <a:buNone/>
            </a:pPr>
            <a:endParaRPr lang="ru-RU" dirty="0"/>
          </a:p>
        </p:txBody>
      </p:sp>
      <p:pic>
        <p:nvPicPr>
          <p:cNvPr id="1028" name="Picture 4" descr="Picture background">
            <a:extLst>
              <a:ext uri="{FF2B5EF4-FFF2-40B4-BE49-F238E27FC236}">
                <a16:creationId xmlns:a16="http://schemas.microsoft.com/office/drawing/2014/main" id="{267EEC6E-C190-7FB7-F7C2-645E62C03B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84064" y="2353902"/>
            <a:ext cx="4900942" cy="275678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A452AC3-0AC7-799B-B753-30F18139BA4C}"/>
              </a:ext>
            </a:extLst>
          </p:cNvPr>
          <p:cNvSpPr txBox="1"/>
          <p:nvPr/>
        </p:nvSpPr>
        <p:spPr>
          <a:xfrm>
            <a:off x="6784064" y="5251009"/>
            <a:ext cx="489749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600" dirty="0"/>
              <a:t>Рисунок 1 – интерфейс игры «Hammerwatch»</a:t>
            </a:r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015777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/>
              <a:t>Структура игры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91173" y="2354172"/>
            <a:ext cx="7362229" cy="4109258"/>
          </a:xfrm>
        </p:spPr>
        <p:txBody>
          <a:bodyPr>
            <a:noAutofit/>
          </a:bodyPr>
          <a:lstStyle/>
          <a:p>
            <a:pPr algn="just"/>
            <a:r>
              <a:rPr lang="ru-RU" sz="2000" dirty="0"/>
              <a:t>Наш проект состоит из трех основных компонентов:</a:t>
            </a:r>
          </a:p>
          <a:p>
            <a:pPr lvl="1" algn="just">
              <a:buFont typeface="+mj-lt"/>
              <a:buAutoNum type="arabicPeriod"/>
            </a:pPr>
            <a:r>
              <a:rPr lang="ru-RU" sz="2000" dirty="0" err="1"/>
              <a:t>Лаунчер</a:t>
            </a:r>
            <a:r>
              <a:rPr lang="ru-RU" sz="2000" dirty="0"/>
              <a:t>;</a:t>
            </a:r>
          </a:p>
          <a:p>
            <a:pPr lvl="1" algn="just">
              <a:buFont typeface="+mj-lt"/>
              <a:buAutoNum type="arabicPeriod"/>
            </a:pPr>
            <a:r>
              <a:rPr lang="ru-RU" sz="2000" dirty="0"/>
              <a:t>Клиент;</a:t>
            </a:r>
          </a:p>
          <a:p>
            <a:pPr lvl="1" algn="just">
              <a:buFont typeface="+mj-lt"/>
              <a:buAutoNum type="arabicPeriod"/>
            </a:pPr>
            <a:r>
              <a:rPr lang="ru-RU" sz="2000" dirty="0"/>
              <a:t>Сервер.</a:t>
            </a:r>
          </a:p>
          <a:p>
            <a:pPr algn="just"/>
            <a:r>
              <a:rPr lang="ru-RU" sz="2000" b="1" dirty="0"/>
              <a:t>Лаунчер</a:t>
            </a:r>
            <a:r>
              <a:rPr lang="ru-RU" sz="2000" dirty="0"/>
              <a:t> – это отдельное приложение, которое включает в себя регистрацию и вход с проверкой в базе данных, автоматическую проверку при каждом запуске, загрузку новых версий с прогресс-баром и отображением статуса, безопасную передачу токена авторизации в игру и запуск игры с правильными параметрами подключения</a:t>
            </a: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61840" y="2520227"/>
            <a:ext cx="3373979" cy="325266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061841" y="5861791"/>
            <a:ext cx="352018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/>
              <a:t>Рисунок 4 – </a:t>
            </a:r>
            <a:r>
              <a:rPr lang="ru-RU" sz="1600" dirty="0" err="1"/>
              <a:t>лаунчер</a:t>
            </a:r>
            <a:r>
              <a:rPr lang="ru-RU" sz="1600" dirty="0"/>
              <a:t> игры</a:t>
            </a: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189827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46C278F-24C3-D867-6C62-A096BEFE4F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/>
              <a:t>Мир и графика игры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6B7E29F-D22B-35C5-D196-0471367036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4557" y="2843408"/>
            <a:ext cx="7481580" cy="3870543"/>
          </a:xfrm>
        </p:spPr>
        <p:txBody>
          <a:bodyPr>
            <a:noAutofit/>
          </a:bodyPr>
          <a:lstStyle/>
          <a:p>
            <a:pPr algn="just"/>
            <a:r>
              <a:rPr lang="ru-RU" sz="2000" dirty="0">
                <a:latin typeface="Century Gothic (Основной текст)"/>
                <a:ea typeface="Times New Roman"/>
                <a:cs typeface="Times New Roman"/>
              </a:rPr>
              <a:t>Сюжет игры повествует об одиноком путнике, который путешествует по миру, помогает страждущим и защищает слабых</a:t>
            </a:r>
            <a:r>
              <a:rPr lang="en-US" sz="2000" dirty="0">
                <a:latin typeface="Century Gothic (Основной текст)"/>
                <a:ea typeface="Times New Roman"/>
                <a:cs typeface="Times New Roman"/>
              </a:rPr>
              <a:t>,</a:t>
            </a:r>
            <a:r>
              <a:rPr lang="ru-RU" sz="2000" dirty="0">
                <a:latin typeface="Century Gothic (Основной текст)"/>
                <a:ea typeface="Times New Roman"/>
                <a:cs typeface="Times New Roman"/>
              </a:rPr>
              <a:t> сражаясь с различным злом, которое наполняет темные леса и пещеры.</a:t>
            </a:r>
            <a:endParaRPr lang="en-US" sz="2000" dirty="0">
              <a:latin typeface="Century Gothic (Основной текст)"/>
              <a:ea typeface="Times New Roman"/>
              <a:cs typeface="Times New Roman"/>
            </a:endParaRPr>
          </a:p>
          <a:p>
            <a:pPr algn="just"/>
            <a:r>
              <a:rPr lang="ru-RU" sz="2000" dirty="0">
                <a:latin typeface="Century Gothic (Основной текст)"/>
                <a:ea typeface="Times New Roman"/>
                <a:cs typeface="Times New Roman"/>
              </a:rPr>
              <a:t>Графика игры подготовлена с помощью нейросетевых сервисов для генерации изображений, таких как </a:t>
            </a:r>
            <a:r>
              <a:rPr lang="ru-RU" sz="2000" dirty="0" err="1">
                <a:latin typeface="Century Gothic (Основной текст)"/>
                <a:ea typeface="Times New Roman"/>
                <a:cs typeface="Times New Roman"/>
              </a:rPr>
              <a:t>Leonardo.Ai</a:t>
            </a:r>
            <a:r>
              <a:rPr lang="ru-RU" sz="2000" dirty="0">
                <a:latin typeface="Century Gothic (Основной текст)"/>
                <a:ea typeface="Times New Roman"/>
                <a:cs typeface="Times New Roman"/>
              </a:rPr>
              <a:t> [</a:t>
            </a:r>
            <a:r>
              <a:rPr lang="en-US" sz="2000" dirty="0">
                <a:latin typeface="Century Gothic (Основной текст)"/>
                <a:ea typeface="Times New Roman"/>
                <a:cs typeface="Times New Roman"/>
              </a:rPr>
              <a:t>2</a:t>
            </a:r>
            <a:r>
              <a:rPr lang="ru-RU" sz="2000" dirty="0">
                <a:latin typeface="Century Gothic (Основной текст)"/>
                <a:ea typeface="Times New Roman"/>
                <a:cs typeface="Times New Roman"/>
              </a:rPr>
              <a:t>] и Fusion </a:t>
            </a:r>
            <a:r>
              <a:rPr lang="ru-RU" sz="2000" dirty="0" err="1">
                <a:latin typeface="Century Gothic (Основной текст)"/>
                <a:ea typeface="Times New Roman"/>
                <a:cs typeface="Times New Roman"/>
              </a:rPr>
              <a:t>Brain</a:t>
            </a:r>
            <a:r>
              <a:rPr lang="ru-RU" sz="2000" dirty="0">
                <a:latin typeface="Century Gothic (Основной текст)"/>
                <a:ea typeface="Times New Roman"/>
                <a:cs typeface="Times New Roman"/>
              </a:rPr>
              <a:t>. Такой подход к созданию изображений позволил сильно упростить процесс разработки и отказаться от необходимости в отдельном художнике.</a:t>
            </a:r>
            <a:endParaRPr lang="en-US" sz="2000" dirty="0">
              <a:latin typeface="Century Gothic (Основной текст)"/>
              <a:ea typeface="Times New Roman"/>
              <a:cs typeface="Times New Roman"/>
            </a:endParaRPr>
          </a:p>
          <a:p>
            <a:pPr algn="just"/>
            <a:r>
              <a:rPr lang="ru-RU" sz="2000" dirty="0">
                <a:latin typeface="Century Gothic (Основной текст)"/>
                <a:ea typeface="Times New Roman"/>
                <a:cs typeface="Times New Roman"/>
              </a:rPr>
              <a:t>Также в игре представлена </a:t>
            </a:r>
            <a:r>
              <a:rPr lang="en-US" sz="2000" dirty="0" err="1">
                <a:latin typeface="Century Gothic (Основной текст)"/>
                <a:ea typeface="Times New Roman"/>
                <a:cs typeface="Times New Roman"/>
              </a:rPr>
              <a:t>tmx</a:t>
            </a:r>
            <a:r>
              <a:rPr lang="en-US" sz="2000" dirty="0">
                <a:latin typeface="Century Gothic (Основной текст)"/>
                <a:ea typeface="Times New Roman"/>
                <a:cs typeface="Times New Roman"/>
              </a:rPr>
              <a:t>-</a:t>
            </a:r>
            <a:r>
              <a:rPr lang="ru-RU" sz="2000" dirty="0">
                <a:latin typeface="Century Gothic (Основной текст)"/>
                <a:ea typeface="Times New Roman"/>
                <a:cs typeface="Times New Roman"/>
              </a:rPr>
              <a:t>карта, созданная нами.</a:t>
            </a:r>
            <a:endParaRPr lang="ru-RU" sz="2000" dirty="0">
              <a:latin typeface="Century Gothic (Основной текст)"/>
            </a:endParaRPr>
          </a:p>
          <a:p>
            <a:pPr algn="just"/>
            <a:endParaRPr lang="ru-RU" sz="2000" dirty="0"/>
          </a:p>
          <a:p>
            <a:pPr algn="just"/>
            <a:endParaRPr lang="ru-RU" sz="2000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F15FFB90-B0D4-94D0-013C-57DE63A7F4C9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93386" y="2043662"/>
            <a:ext cx="3618367" cy="1771492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833F92BC-1032-E3DE-CF54-9711BC97C94E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93385" y="4447947"/>
            <a:ext cx="3618367" cy="173052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31C2ACA-932C-B2A5-1ACF-1FF61CFCCF64}"/>
              </a:ext>
            </a:extLst>
          </p:cNvPr>
          <p:cNvSpPr txBox="1"/>
          <p:nvPr/>
        </p:nvSpPr>
        <p:spPr>
          <a:xfrm>
            <a:off x="8129392" y="3815154"/>
            <a:ext cx="391438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/>
              <a:t>Рисунок 5 – пейзаж из мира игры в светлой теме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00692AF-E09E-0139-7CF2-92985F342FC2}"/>
              </a:ext>
            </a:extLst>
          </p:cNvPr>
          <p:cNvSpPr txBox="1"/>
          <p:nvPr/>
        </p:nvSpPr>
        <p:spPr>
          <a:xfrm>
            <a:off x="8129392" y="6140644"/>
            <a:ext cx="368236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/>
              <a:t>Рисунок 6 – пейзаж из мира игры </a:t>
            </a:r>
          </a:p>
          <a:p>
            <a:r>
              <a:rPr lang="ru-RU" sz="1600" dirty="0"/>
              <a:t>в тёмной теме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>
          <a:xfrm>
            <a:off x="10749597" y="6140644"/>
            <a:ext cx="1062155" cy="490599"/>
          </a:xfrm>
        </p:spPr>
        <p:txBody>
          <a:bodyPr/>
          <a:lstStyle/>
          <a:p>
            <a:fld id="{CE008903-557F-423E-A0C0-FB243518669E}" type="slidenum">
              <a:rPr lang="ru-RU" smtClean="0"/>
              <a:t>7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0878528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0075DEC-C3FF-C591-1D21-92511A67B4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/>
              <a:t>Алгоритм работы игры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DD2238B-A120-6A76-5795-6B597B4DFD96}"/>
              </a:ext>
            </a:extLst>
          </p:cNvPr>
          <p:cNvSpPr txBox="1"/>
          <p:nvPr/>
        </p:nvSpPr>
        <p:spPr>
          <a:xfrm>
            <a:off x="3206664" y="6024297"/>
            <a:ext cx="584339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/>
              <a:t>Рисунок 2 – блок-схема алгоритма работы игры</a:t>
            </a:r>
          </a:p>
        </p:txBody>
      </p: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8</a:t>
            </a:fld>
            <a:endParaRPr lang="ru-RU"/>
          </a:p>
        </p:txBody>
      </p:sp>
      <p:sp>
        <p:nvSpPr>
          <p:cNvPr id="7" name="Объект 6">
            <a:extLst>
              <a:ext uri="{FF2B5EF4-FFF2-40B4-BE49-F238E27FC236}">
                <a16:creationId xmlns:a16="http://schemas.microsoft.com/office/drawing/2014/main" id="{266EF762-A5B5-679D-A349-22623475EB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E77E8D60-A3F0-2DDF-C147-26262202B47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02503" y="2222287"/>
            <a:ext cx="5805520" cy="380201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7379702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806401E-A251-F1E3-CF12-471095BD77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/>
              <a:t>Заключение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CC2F877-A019-C601-8155-8423107E1A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1512" y="2198318"/>
            <a:ext cx="7229261" cy="4020855"/>
          </a:xfrm>
        </p:spPr>
        <p:txBody>
          <a:bodyPr>
            <a:normAutofit/>
          </a:bodyPr>
          <a:lstStyle/>
          <a:p>
            <a:pPr algn="just"/>
            <a:r>
              <a:rPr lang="ru-RU" sz="2000" dirty="0">
                <a:latin typeface="Century Gothic (Основной текст)"/>
              </a:rPr>
              <a:t>В результате проделанной работы была разработана полноценная 2</a:t>
            </a:r>
            <a:r>
              <a:rPr lang="en-US" sz="2000" dirty="0">
                <a:latin typeface="Century Gothic (Основной текст)"/>
              </a:rPr>
              <a:t>d</a:t>
            </a:r>
            <a:r>
              <a:rPr lang="ru-RU" sz="2000" dirty="0">
                <a:latin typeface="Century Gothic (Основной текст)"/>
              </a:rPr>
              <a:t> онлайн игра с системой битв, сюжетом и изображениями. Также в игре можно открыть настройки как в меню, так и во время игры. </a:t>
            </a:r>
          </a:p>
          <a:p>
            <a:pPr algn="just"/>
            <a:r>
              <a:rPr lang="ru-RU" sz="2000" dirty="0">
                <a:latin typeface="Century Gothic (Основной текст)"/>
                <a:ea typeface="Times New Roman"/>
                <a:cs typeface="Times New Roman" panose="02020603050405020304" pitchFamily="18" charset="0"/>
              </a:rPr>
              <a:t>Нами были получены знания по игровой разработке в небольшой команде, а так же мы получили большой опыт в работе с нейросетями.</a:t>
            </a:r>
            <a:r>
              <a:rPr lang="en-US" sz="2000" dirty="0">
                <a:latin typeface="Century Gothic (Основной текст)"/>
                <a:ea typeface="Times New Roman"/>
                <a:cs typeface="Times New Roman" panose="02020603050405020304" pitchFamily="18" charset="0"/>
              </a:rPr>
              <a:t> </a:t>
            </a:r>
            <a:r>
              <a:rPr lang="ru-RU" sz="2000" dirty="0">
                <a:latin typeface="Century Gothic (Основной текст)"/>
                <a:ea typeface="Times New Roman"/>
                <a:cs typeface="Times New Roman" panose="02020603050405020304" pitchFamily="18" charset="0"/>
              </a:rPr>
              <a:t>Полученные навыки программирования позволят нам дальше развивать свой продукт и создавать новые увлекательные игры.</a:t>
            </a:r>
            <a:endParaRPr lang="en-US" sz="2000" dirty="0">
              <a:latin typeface="Century Gothic (Основной текст)"/>
              <a:ea typeface="Times New Roman"/>
              <a:cs typeface="Times New Roman" panose="02020603050405020304" pitchFamily="18" charset="0"/>
            </a:endParaRP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05066" y="2479852"/>
            <a:ext cx="2173265" cy="2173265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9</a:t>
            </a:fld>
            <a:endParaRPr lang="ru-RU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AEB7E5A-0F0F-421F-959F-0F3545411928}"/>
              </a:ext>
            </a:extLst>
          </p:cNvPr>
          <p:cNvSpPr txBox="1"/>
          <p:nvPr/>
        </p:nvSpPr>
        <p:spPr>
          <a:xfrm>
            <a:off x="8386175" y="4856303"/>
            <a:ext cx="254278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/>
              <a:t>Рисунок 7 – </a:t>
            </a:r>
            <a:r>
              <a:rPr lang="en-US" sz="1600" dirty="0">
                <a:latin typeface="Century Gothic (Основной текст)"/>
                <a:ea typeface="Times New Roman"/>
                <a:cs typeface="Times New Roman" panose="02020603050405020304" pitchFamily="18" charset="0"/>
              </a:rPr>
              <a:t>QR-</a:t>
            </a:r>
            <a:r>
              <a:rPr lang="ru-RU" sz="1600" dirty="0">
                <a:latin typeface="Century Gothic (Основной текст)"/>
                <a:ea typeface="Times New Roman"/>
                <a:cs typeface="Times New Roman" panose="02020603050405020304" pitchFamily="18" charset="0"/>
              </a:rPr>
              <a:t>код на репозиторий </a:t>
            </a:r>
            <a:r>
              <a:rPr lang="en-US" sz="1600" dirty="0" err="1">
                <a:latin typeface="Century Gothic (Основной текст)"/>
                <a:ea typeface="Times New Roman"/>
                <a:cs typeface="Times New Roman" panose="02020603050405020304" pitchFamily="18" charset="0"/>
              </a:rPr>
              <a:t>Github</a:t>
            </a:r>
            <a:r>
              <a:rPr lang="ru-RU" sz="16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25509754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DB0DD21-71E9-BE84-8E00-9CE16289D2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/>
              <a:t>Дальнейшее развитие проекта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7BF2EF1-F377-C4F2-FC96-4B0A712EE7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7833" y="2125862"/>
            <a:ext cx="10554574" cy="3636511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ru-RU" sz="2000" dirty="0"/>
              <a:t>В будущем планируем продолжить разработку нашей игры. Также планируется добавить систему миссий и заданий, выполняя которые игрок будет получать игровую валюту, которую сможет обменять на улучшенную броню или оружие. 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331780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67A4D73-96C1-92C1-C364-962CC71115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/>
              <a:t>Список литературы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7E72383-4E70-4F03-5CF2-9772EEB509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 lang="ru-RU" sz="2000" b="1" dirty="0"/>
              <a:t>Leonardo.ai</a:t>
            </a:r>
            <a:r>
              <a:rPr lang="ru-RU" sz="2000" dirty="0"/>
              <a:t>: нейросеть для генерации изображений искусственным интеллектом. – URL: </a:t>
            </a:r>
            <a:r>
              <a:rPr lang="ru-RU" sz="2000" u="sng" dirty="0">
                <a:hlinkClick r:id="rId2"/>
              </a:rPr>
              <a:t>https://leonardo.ai/</a:t>
            </a:r>
            <a:r>
              <a:rPr lang="ru-RU" sz="2000" dirty="0"/>
              <a:t> (дата обращения:</a:t>
            </a:r>
            <a:r>
              <a:rPr lang="ru-RU" sz="2000" b="1" dirty="0"/>
              <a:t> 23.01.2026</a:t>
            </a:r>
            <a:r>
              <a:rPr lang="ru-RU" sz="2000" dirty="0"/>
              <a:t>).</a:t>
            </a:r>
          </a:p>
          <a:p>
            <a:pPr lvl="0"/>
            <a:r>
              <a:rPr lang="ru-RU" sz="2000" b="1" dirty="0" err="1"/>
              <a:t>Pygame</a:t>
            </a:r>
            <a:r>
              <a:rPr lang="ru-RU" sz="2000" dirty="0"/>
              <a:t>: набор модулей Python для программирования видеоигр: офиц. сайт. – URL: </a:t>
            </a:r>
            <a:r>
              <a:rPr lang="ru-RU" sz="2000" u="sng" dirty="0">
                <a:hlinkClick r:id="rId3"/>
              </a:rPr>
              <a:t>https://www.pygame.org/</a:t>
            </a:r>
            <a:r>
              <a:rPr lang="ru-RU" sz="2000" dirty="0"/>
              <a:t> (дата обращения: </a:t>
            </a:r>
            <a:r>
              <a:rPr lang="ru-RU" sz="2000" b="1" dirty="0"/>
              <a:t>30.09.2025</a:t>
            </a:r>
            <a:r>
              <a:rPr lang="ru-RU" sz="2000" dirty="0"/>
              <a:t>).</a:t>
            </a:r>
          </a:p>
          <a:p>
            <a:pPr lvl="0"/>
            <a:r>
              <a:rPr lang="ru-RU" sz="2000" b="1" dirty="0" err="1"/>
              <a:t>GigaChat</a:t>
            </a:r>
            <a:r>
              <a:rPr lang="ru-RU" sz="2000" dirty="0"/>
              <a:t>: мультимодальная нейросеть от </a:t>
            </a:r>
            <a:r>
              <a:rPr lang="ru-RU" sz="2000" dirty="0" err="1"/>
              <a:t>Сбера</a:t>
            </a:r>
            <a:r>
              <a:rPr lang="ru-RU" sz="2000" dirty="0"/>
              <a:t>: офиц. сайт. – URL:  </a:t>
            </a:r>
            <a:r>
              <a:rPr lang="ru-RU" sz="2000" u="sng" dirty="0">
                <a:hlinkClick r:id="rId4"/>
              </a:rPr>
              <a:t>https://giga.chat/</a:t>
            </a:r>
            <a:r>
              <a:rPr lang="ru-RU" sz="2000" dirty="0"/>
              <a:t> (дата обращения: </a:t>
            </a:r>
            <a:r>
              <a:rPr lang="ru-RU" sz="2000" b="1" dirty="0"/>
              <a:t>01.02.2026</a:t>
            </a:r>
            <a:r>
              <a:rPr lang="ru-RU" sz="2000" dirty="0"/>
              <a:t>).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2211762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CEAB89-91F4-8CDF-990B-80055D724C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/>
              <a:t>Спасибо за внимание</a:t>
            </a:r>
          </a:p>
        </p:txBody>
      </p:sp>
      <p:pic>
        <p:nvPicPr>
          <p:cNvPr id="5" name="Объект 4">
            <a:extLst>
              <a:ext uri="{FF2B5EF4-FFF2-40B4-BE49-F238E27FC236}">
                <a16:creationId xmlns:a16="http://schemas.microsoft.com/office/drawing/2014/main" id="{6A517FD8-6CED-5639-9DDD-6F23C85BBF8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04341" y="2264713"/>
            <a:ext cx="4365575" cy="4346677"/>
          </a:xfrm>
        </p:spPr>
      </p:pic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13503937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Цитаты">
  <a:themeElements>
    <a:clrScheme name="Цитаты">
      <a:dk1>
        <a:sysClr val="windowText" lastClr="000000"/>
      </a:dk1>
      <a:lt1>
        <a:sysClr val="window" lastClr="FFFFFF"/>
      </a:lt1>
      <a:dk2>
        <a:srgbClr val="212121"/>
      </a:dk2>
      <a:lt2>
        <a:srgbClr val="636363"/>
      </a:lt2>
      <a:accent1>
        <a:srgbClr val="00C6BB"/>
      </a:accent1>
      <a:accent2>
        <a:srgbClr val="6FEBA0"/>
      </a:accent2>
      <a:accent3>
        <a:srgbClr val="B6DF5E"/>
      </a:accent3>
      <a:accent4>
        <a:srgbClr val="EFB251"/>
      </a:accent4>
      <a:accent5>
        <a:srgbClr val="EF755F"/>
      </a:accent5>
      <a:accent6>
        <a:srgbClr val="ED515C"/>
      </a:accent6>
      <a:hlink>
        <a:srgbClr val="8F8F8F"/>
      </a:hlink>
      <a:folHlink>
        <a:srgbClr val="A5A5A5"/>
      </a:folHlink>
    </a:clrScheme>
    <a:fontScheme name="Цитаты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Цитаты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lumMod val="105000"/>
              </a:schemeClr>
            </a:gs>
            <a:gs pos="100000">
              <a:schemeClr val="phClr">
                <a:tint val="90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tint val="98000"/>
                <a:lumMod val="102000"/>
              </a:schemeClr>
              <a:schemeClr val="phClr">
                <a:shade val="98000"/>
                <a:lumMod val="98000"/>
              </a:schemeClr>
            </a:duotone>
          </a:blip>
          <a:tile tx="0" ty="0" sx="100000" sy="100000" flip="none" algn="tl"/>
        </a:blipFill>
      </a:fillStyleLst>
      <a:lnStyleLst>
        <a:ln w="9525" cap="rnd" cmpd="sng" algn="ctr">
          <a:solidFill>
            <a:schemeClr val="phClr"/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innerShdw blurRad="63500" dist="25400" dir="13500000">
              <a:srgbClr val="000000">
                <a:alpha val="75000"/>
              </a:srgbClr>
            </a:inn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</a:schemeClr>
            </a:gs>
            <a:gs pos="100000">
              <a:schemeClr val="phClr">
                <a:tint val="84000"/>
                <a:shade val="84000"/>
                <a:lumMod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4000"/>
                <a:shade val="90000"/>
                <a:satMod val="120000"/>
                <a:lumMod val="90000"/>
              </a:schemeClr>
            </a:gs>
            <a:gs pos="100000">
              <a:schemeClr val="phClr"/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Quotable" id="{39EC5628-30ED-4578-ACD8-9820EDB8E15A}" vid="{6F3559E9-1A4C-49D8-94D4-F41003531C49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Цитаты</Template>
  <TotalTime>166</TotalTime>
  <Words>871</Words>
  <Application>Microsoft Office PowerPoint</Application>
  <PresentationFormat>Широкоэкранный</PresentationFormat>
  <Paragraphs>71</Paragraphs>
  <Slides>12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12</vt:i4>
      </vt:variant>
    </vt:vector>
  </HeadingPairs>
  <TitlesOfParts>
    <vt:vector size="18" baseType="lpstr">
      <vt:lpstr>Calibri</vt:lpstr>
      <vt:lpstr>Century Gothic</vt:lpstr>
      <vt:lpstr>Century Gothic (Основной текст)</vt:lpstr>
      <vt:lpstr>Times New Roman</vt:lpstr>
      <vt:lpstr>Wingdings 2</vt:lpstr>
      <vt:lpstr>Цитаты</vt:lpstr>
      <vt:lpstr> «МНОГОПОЛЬЗОВАТЕЛЬСКАЯ 2D ОНЛАЙН ИГРА  С КЛИЕНТ-СЕРВЕРНОЙ АРХИТЕКТУРОЙ» </vt:lpstr>
      <vt:lpstr>Введение и актуальность проектной работы</vt:lpstr>
      <vt:lpstr>Новизна, цель и задачи проектной работы</vt:lpstr>
      <vt:lpstr>Новизна, цель и задачи проектной работы</vt:lpstr>
      <vt:lpstr>Обзор существующих аналогов</vt:lpstr>
      <vt:lpstr>Структура игры</vt:lpstr>
      <vt:lpstr>Мир и графика игры</vt:lpstr>
      <vt:lpstr>Алгоритм работы игры</vt:lpstr>
      <vt:lpstr>Заключение</vt:lpstr>
      <vt:lpstr>Дальнейшее развитие проекта</vt:lpstr>
      <vt:lpstr>Список литературы</vt:lpstr>
      <vt:lpstr>Спасибо за внимание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Проектная работа  «ТЕКСТОВЫЙ КВЕСТ НА ЯЗЫКЕ ПРОГРАММИРОВАНИЯ PYTHON С ИСПОЛЬЗОВАНИЕМ ВНЕШНЕЙ БИБЛИОТЕКИ PYGAME»</dc:title>
  <dc:creator>bobtre FreeZoN</dc:creator>
  <cp:lastModifiedBy>bobtre FreeZoN</cp:lastModifiedBy>
  <cp:revision>22</cp:revision>
  <dcterms:created xsi:type="dcterms:W3CDTF">2026-01-10T12:43:09Z</dcterms:created>
  <dcterms:modified xsi:type="dcterms:W3CDTF">2026-04-23T14:52:49Z</dcterms:modified>
</cp:coreProperties>
</file>