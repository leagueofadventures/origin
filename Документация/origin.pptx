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0869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4022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380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8995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0356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2437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80937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4604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347CDDA7-3639-427C-82C8-5EF73E14CBE3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027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7697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6165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35196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72729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855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347CDDA7-3639-427C-82C8-5EF73E14CBE3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33027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eonardo.ai/" TargetMode="External"/><Relationship Id="rId2" Type="http://schemas.openxmlformats.org/officeDocument/2006/relationships/hyperlink" Target="https://hammerwatch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pygame/pygame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CFD07B-4D48-29D2-4701-3D7BA34CB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78460"/>
            <a:ext cx="12192000" cy="2971051"/>
          </a:xfrm>
        </p:spPr>
        <p:txBody>
          <a:bodyPr/>
          <a:lstStyle/>
          <a:p>
            <a:pPr algn="ctr"/>
            <a:r>
              <a:rPr lang="ru-RU" sz="2000" dirty="0">
                <a:latin typeface="Times New Roman"/>
                <a:ea typeface="Times New Roman"/>
                <a:cs typeface="Times New Roman"/>
              </a:rPr>
              <a:t>Проектная работа </a:t>
            </a:r>
            <a:br>
              <a:rPr lang="ru-RU" sz="2000" dirty="0">
                <a:latin typeface="Times New Roman"/>
                <a:ea typeface="Times New Roman"/>
                <a:cs typeface="Times New Roman"/>
              </a:rPr>
            </a:br>
            <a:r>
              <a:rPr lang="ru-RU" sz="2000" dirty="0">
                <a:latin typeface="Times New Roman"/>
                <a:ea typeface="Times New Roman"/>
                <a:cs typeface="Times New Roman"/>
              </a:rPr>
              <a:t>«ТЕКСТОВЫЙ КВЕСТ НА ЯЗЫКЕ ПРОГРАММИРОВАНИЯ PYTHON С ИСПОЛЬЗОВАНИЕМ ВНЕШНЕЙ БИБЛИОТЕКИ PYGAME»</a:t>
            </a:r>
            <a:br>
              <a:rPr lang="ru-RU" spc="-1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234D390-397F-875E-3B5A-9EB59DD0E6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99" y="5128878"/>
            <a:ext cx="6096001" cy="434974"/>
          </a:xfrm>
        </p:spPr>
        <p:txBody>
          <a:bodyPr>
            <a:noAutofit/>
          </a:bodyPr>
          <a:lstStyle/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Выполнили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Ученик 8 «П» класса ГБОУ школы </a:t>
            </a:r>
            <a:r>
              <a:rPr lang="ru-RU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№2065</a:t>
            </a:r>
            <a:r>
              <a:rPr lang="en-US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lang="ru-RU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Леонов Ярослав Александрович</a:t>
            </a:r>
          </a:p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Ученик 8 «Б» класса школы </a:t>
            </a:r>
            <a:r>
              <a:rPr lang="ru-RU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№2065 Мацнев Илья Антонович</a:t>
            </a:r>
          </a:p>
          <a:p>
            <a:pPr algn="r"/>
            <a:r>
              <a:rPr lang="ru-RU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проекта</a:t>
            </a: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r"/>
            <a:r>
              <a:rPr lang="ru-RU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Учитель информатики ГБОУ школы </a:t>
            </a:r>
            <a:r>
              <a:rPr lang="ru-RU" sz="1200" spc="-10" dirty="0">
                <a:latin typeface="Times New Roman"/>
                <a:ea typeface="Times New Roman"/>
                <a:cs typeface="Times New Roman"/>
              </a:rPr>
              <a:t>№2065 Кирсанов Максим Григорьевич</a:t>
            </a:r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E34853-C0EC-A13F-1086-8B2BA0B5751A}"/>
              </a:ext>
            </a:extLst>
          </p:cNvPr>
          <p:cNvSpPr txBox="1"/>
          <p:nvPr/>
        </p:nvSpPr>
        <p:spPr>
          <a:xfrm>
            <a:off x="518511" y="570369"/>
            <a:ext cx="111549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b="1" spc="-25" dirty="0">
                <a:latin typeface="Times New Roman"/>
                <a:ea typeface="Times New Roman"/>
                <a:cs typeface="Times New Roman"/>
              </a:rPr>
              <a:t>Государственное</a:t>
            </a:r>
            <a:r>
              <a:rPr lang="ru-RU" sz="2000" b="1" spc="-8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бюджетное</a:t>
            </a:r>
            <a:r>
              <a:rPr lang="ru-RU" sz="2000" b="1" spc="-4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общеобразовательное</a:t>
            </a:r>
            <a:r>
              <a:rPr lang="ru-RU" sz="2000" b="1" spc="-65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учреждение города</a:t>
            </a:r>
            <a:r>
              <a:rPr lang="ru-RU" sz="2000" b="1" spc="-6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Москвы</a:t>
            </a:r>
            <a:r>
              <a:rPr lang="ru-RU" sz="2000" b="1" spc="-7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«Школа</a:t>
            </a:r>
            <a:r>
              <a:rPr lang="ru-RU" sz="2000" b="1" spc="-7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№</a:t>
            </a:r>
            <a:r>
              <a:rPr lang="ru-RU" sz="2000" b="1" spc="-5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2065»</a:t>
            </a:r>
          </a:p>
          <a:p>
            <a:pPr algn="ctr"/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82029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E33AD8-B839-68D4-4E33-017D9F57D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 и актуальность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A00C50-7C60-CC11-FD53-2EFA43BD2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Мы живем в </a:t>
            </a:r>
            <a:r>
              <a:rPr lang="en-US" dirty="0"/>
              <a:t>XXI</a:t>
            </a:r>
            <a:r>
              <a:rPr lang="ru-RU" dirty="0"/>
              <a:t> веке – веке </a:t>
            </a:r>
            <a:r>
              <a:rPr lang="ru-RU" dirty="0" err="1"/>
              <a:t>компьюторных</a:t>
            </a:r>
            <a:r>
              <a:rPr lang="ru-RU" dirty="0"/>
              <a:t> технологий. Сейчас востребованными сферами являются разработчики приложений и игр. Одним из простых и современных языков является </a:t>
            </a:r>
            <a:r>
              <a:rPr lang="en-US" dirty="0"/>
              <a:t>Python</a:t>
            </a:r>
            <a:r>
              <a:rPr lang="ru-RU" dirty="0"/>
              <a:t>.</a:t>
            </a:r>
          </a:p>
          <a:p>
            <a:r>
              <a:rPr lang="ru-RU" dirty="0"/>
              <a:t>Язык «</a:t>
            </a:r>
            <a:r>
              <a:rPr lang="en-US" dirty="0"/>
              <a:t>Go</a:t>
            </a:r>
            <a:r>
              <a:rPr lang="ru-RU" dirty="0"/>
              <a:t>» известен своей простотой, высокой производительностью и эффективностью, что делает его идеальным для создания веб-сервисов, серверных приложений и облачной инфраструктуры.</a:t>
            </a:r>
          </a:p>
          <a:p>
            <a:r>
              <a:rPr lang="ru-RU" dirty="0"/>
              <a:t>Мы разработали игру «</a:t>
            </a:r>
            <a:r>
              <a:rPr lang="en-US" dirty="0"/>
              <a:t>League of adventures</a:t>
            </a:r>
            <a:r>
              <a:rPr lang="ru-RU" dirty="0"/>
              <a:t>» на языках «</a:t>
            </a:r>
            <a:r>
              <a:rPr lang="en-US" dirty="0"/>
              <a:t>python</a:t>
            </a:r>
            <a:r>
              <a:rPr lang="ru-RU" dirty="0"/>
              <a:t>» для клиента и «</a:t>
            </a:r>
            <a:r>
              <a:rPr lang="en-US" dirty="0"/>
              <a:t>Go</a:t>
            </a:r>
            <a:r>
              <a:rPr lang="ru-RU" dirty="0"/>
              <a:t>» для сервера, с использованием </a:t>
            </a:r>
            <a:r>
              <a:rPr lang="en-US" dirty="0"/>
              <a:t>python </a:t>
            </a:r>
            <a:r>
              <a:rPr lang="ru-RU" dirty="0"/>
              <a:t>библиотек «</a:t>
            </a:r>
            <a:r>
              <a:rPr lang="en-US" dirty="0" err="1"/>
              <a:t>pygame</a:t>
            </a:r>
            <a:r>
              <a:rPr lang="ru-RU" dirty="0"/>
              <a:t>», «</a:t>
            </a:r>
            <a:r>
              <a:rPr lang="en-US" dirty="0" err="1"/>
              <a:t>websocket</a:t>
            </a:r>
            <a:r>
              <a:rPr lang="ru-RU" dirty="0"/>
              <a:t>», «</a:t>
            </a:r>
            <a:r>
              <a:rPr lang="en-US" dirty="0" err="1"/>
              <a:t>pytmx</a:t>
            </a:r>
            <a:r>
              <a:rPr lang="ru-RU" dirty="0"/>
              <a:t>»; а также с использованием пользовательской библиотеки </a:t>
            </a:r>
            <a:r>
              <a:rPr lang="en-US" dirty="0" err="1"/>
              <a:t>golang</a:t>
            </a:r>
            <a:r>
              <a:rPr lang="ru-RU" dirty="0"/>
              <a:t> «</a:t>
            </a:r>
            <a:r>
              <a:rPr lang="en-US" dirty="0"/>
              <a:t>gorilla</a:t>
            </a:r>
            <a:r>
              <a:rPr lang="ru-RU" dirty="0"/>
              <a:t>/</a:t>
            </a:r>
            <a:r>
              <a:rPr lang="en-US" dirty="0" err="1"/>
              <a:t>websocket</a:t>
            </a:r>
            <a:r>
              <a:rPr lang="ru-RU" dirty="0"/>
              <a:t>» для соединения сервера с клиентами.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772577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22483B-90ED-08EE-53AA-77FC3BC1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Новизна, цель и задачи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EED16F-6FF6-8A2E-3D3E-D5FA9E81F5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Цель</a:t>
            </a:r>
            <a:r>
              <a:rPr lang="en-US" dirty="0"/>
              <a:t>: </a:t>
            </a:r>
            <a:r>
              <a:rPr lang="ru-RU" dirty="0"/>
              <a:t>Разработать прототип многопользовательской онлайн 2D-игры на «</a:t>
            </a:r>
            <a:r>
              <a:rPr lang="en-US" dirty="0"/>
              <a:t>python</a:t>
            </a:r>
            <a:r>
              <a:rPr lang="ru-RU" dirty="0"/>
              <a:t>» с клиент-серверной архитектурой, демонстрирующий реализацию сетевого взаимодействия в реальном времени, управление игровым состоянием на сервере и отзывчивый графический интерфейс в клиенте.</a:t>
            </a:r>
          </a:p>
          <a:p>
            <a:r>
              <a:rPr lang="ru-RU" b="1" dirty="0"/>
              <a:t>Задачи</a:t>
            </a:r>
            <a:r>
              <a:rPr lang="en-US" dirty="0"/>
              <a:t>: 	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Изучение теоретической литературы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Разработка алгоритма работы игры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Написание кода игры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Создание </a:t>
            </a:r>
            <a:r>
              <a:rPr lang="en-US" sz="1800" dirty="0" err="1"/>
              <a:t>tmx</a:t>
            </a:r>
            <a:r>
              <a:rPr lang="en-US" sz="1800" dirty="0"/>
              <a:t>-</a:t>
            </a:r>
            <a:r>
              <a:rPr lang="ru-RU" sz="1800" dirty="0"/>
              <a:t>карты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Генерация картинок в нейронных сетях</a:t>
            </a:r>
            <a:endParaRPr lang="en-US" sz="1800" dirty="0"/>
          </a:p>
          <a:p>
            <a:r>
              <a:rPr lang="ru-RU" b="1" dirty="0"/>
              <a:t>Новизна</a:t>
            </a:r>
            <a:r>
              <a:rPr lang="en-US" dirty="0"/>
              <a:t>: </a:t>
            </a:r>
            <a:r>
              <a:rPr lang="ru-RU" dirty="0"/>
              <a:t>Новизна проектной работы заключается в исследовании и реализации клиент-серверной архитектуры, где высокопроизводительный сервер реального времени, написанный на языке «Go» (язык, известный своей эффективностью в конкурентных сетевых задачах) взаимодействует с быстрым для прототипирования клиентом на языке «python».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0887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8F6B72-DCCD-127E-AEA9-E5C500756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Обзор существующих аналогов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BAEA73-2223-9A1A-037D-2D480CAED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236" y="2267554"/>
            <a:ext cx="6152456" cy="3636511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Один из аналогов нашего проекта – игра «Hammerwatch» </a:t>
            </a:r>
            <a:r>
              <a:rPr lang="en-US" dirty="0"/>
              <a:t>[1]</a:t>
            </a:r>
            <a:r>
              <a:rPr lang="ru-RU" dirty="0"/>
              <a:t>. Она представляет собой динамичный экшен в жанре экшен-РПГ. Игрокам предстоит исследовать мрачные подземелья, состоящие из множества комнат и уровней. В процессе прохождения игроки собирают золото и ресурсы, которые можно тратить на улучшение характеристик персонажа, покупку зелий и специальных предметов</a:t>
            </a:r>
            <a:r>
              <a:rPr lang="en-US" dirty="0"/>
              <a:t>. </a:t>
            </a:r>
            <a:r>
              <a:rPr lang="ru-RU" dirty="0"/>
              <a:t>Особенностью Hammerwatch является кооперативный мультиплеер, поддерживающий до четырех игроков одновременно.  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267EEC6E-C190-7FB7-F7C2-645E62C03B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4064" y="2353902"/>
            <a:ext cx="4900942" cy="275678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452AC3-0AC7-799B-B753-30F18139BA4C}"/>
              </a:ext>
            </a:extLst>
          </p:cNvPr>
          <p:cNvSpPr txBox="1"/>
          <p:nvPr/>
        </p:nvSpPr>
        <p:spPr>
          <a:xfrm>
            <a:off x="6784064" y="5251009"/>
            <a:ext cx="5157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Рис. 1 – интерфейс игры «Hammerwatch»</a:t>
            </a:r>
          </a:p>
        </p:txBody>
      </p:sp>
    </p:spTree>
    <p:extLst>
      <p:ext uri="{BB962C8B-B14F-4D97-AF65-F5344CB8AC3E}">
        <p14:creationId xmlns:p14="http://schemas.microsoft.com/office/powerpoint/2010/main" val="3901577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075DEC-C3FF-C591-1D21-92511A67B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работы игры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0583E016-C172-4FFE-48C6-5021A9E089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7736" y="2412623"/>
            <a:ext cx="5676523" cy="363696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DD2238B-A120-6A76-5795-6B597B4DFD96}"/>
              </a:ext>
            </a:extLst>
          </p:cNvPr>
          <p:cNvSpPr txBox="1"/>
          <p:nvPr/>
        </p:nvSpPr>
        <p:spPr>
          <a:xfrm>
            <a:off x="3447860" y="6024297"/>
            <a:ext cx="5676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Рис. 2 – блок-схема алгоритма работы игры</a:t>
            </a:r>
          </a:p>
        </p:txBody>
      </p:sp>
    </p:spTree>
    <p:extLst>
      <p:ext uri="{BB962C8B-B14F-4D97-AF65-F5344CB8AC3E}">
        <p14:creationId xmlns:p14="http://schemas.microsoft.com/office/powerpoint/2010/main" val="17379702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A1C431-2A08-0ED6-C820-4FFD72DBF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Принцип работы кода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AD20B9-209A-94A7-C2ED-3D83D47B6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Програмный код разработан согласно принципам объектно-ориентированного программирования и событийно-ориентированного программирования. В коде игры представлена клиент-серверная архитектура. </a:t>
            </a:r>
          </a:p>
          <a:p>
            <a:r>
              <a:rPr lang="ru-RU" dirty="0"/>
              <a:t>Основной цикл игры предполагает постоянную проверку и обработку событий, таких как нажатие клавиш, клики мыши. Также игровой цикл предполагает обновление состояний, таких как обновление анимации, отправка данных на сервер.</a:t>
            </a:r>
          </a:p>
        </p:txBody>
      </p:sp>
    </p:spTree>
    <p:extLst>
      <p:ext uri="{BB962C8B-B14F-4D97-AF65-F5344CB8AC3E}">
        <p14:creationId xmlns:p14="http://schemas.microsoft.com/office/powerpoint/2010/main" val="4114159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6C278F-24C3-D867-6C62-A096BEFE4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Мир и графика игры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6B7E29F-D22B-35C5-D196-047136703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557" y="2629692"/>
            <a:ext cx="5627355" cy="3636511"/>
          </a:xfrm>
        </p:spPr>
        <p:txBody>
          <a:bodyPr/>
          <a:lstStyle/>
          <a:p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Сюжет игры повествует об одиноком путнике, который путешествует по миру, помогает страждущим и защищает слабых</a:t>
            </a:r>
            <a:r>
              <a:rPr lang="en-US" sz="1500" dirty="0">
                <a:latin typeface="Century Gothic (Основной текст)"/>
                <a:ea typeface="Times New Roman"/>
                <a:cs typeface="Times New Roman"/>
              </a:rPr>
              <a:t>,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 сражаясь с различным злом, которое наполняет темные леса и пещеры.</a:t>
            </a:r>
            <a:endParaRPr lang="en-US" sz="1500" dirty="0">
              <a:latin typeface="Century Gothic (Основной текст)"/>
              <a:ea typeface="Times New Roman"/>
              <a:cs typeface="Times New Roman"/>
            </a:endParaRPr>
          </a:p>
          <a:p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Графика игры подготовлена с помощью нейросетевых сервисов для генерации изображений, таких как </a:t>
            </a:r>
            <a:r>
              <a:rPr lang="ru-RU" sz="1500" dirty="0" err="1">
                <a:latin typeface="Century Gothic (Основной текст)"/>
                <a:ea typeface="Times New Roman"/>
                <a:cs typeface="Times New Roman"/>
              </a:rPr>
              <a:t>Leonardo.Ai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 [</a:t>
            </a:r>
            <a:r>
              <a:rPr lang="en-US" sz="1500" dirty="0">
                <a:latin typeface="Century Gothic (Основной текст)"/>
                <a:ea typeface="Times New Roman"/>
                <a:cs typeface="Times New Roman"/>
              </a:rPr>
              <a:t>2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] и Fusion </a:t>
            </a:r>
            <a:r>
              <a:rPr lang="ru-RU" sz="1500" dirty="0" err="1">
                <a:latin typeface="Century Gothic (Основной текст)"/>
                <a:ea typeface="Times New Roman"/>
                <a:cs typeface="Times New Roman"/>
              </a:rPr>
              <a:t>Brain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. Такой подход к созданию изображений позволил сильно упростить процесс разработки и отказаться от необходимости в отдельном художнике.</a:t>
            </a:r>
            <a:endParaRPr lang="en-US" sz="1500" dirty="0">
              <a:latin typeface="Century Gothic (Основной текст)"/>
              <a:ea typeface="Times New Roman"/>
              <a:cs typeface="Times New Roman"/>
            </a:endParaRPr>
          </a:p>
          <a:p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Также в игре представлена </a:t>
            </a:r>
            <a:r>
              <a:rPr lang="en-US" sz="1500" dirty="0" err="1">
                <a:latin typeface="Century Gothic (Основной текст)"/>
                <a:ea typeface="Times New Roman"/>
                <a:cs typeface="Times New Roman"/>
              </a:rPr>
              <a:t>tmx</a:t>
            </a:r>
            <a:r>
              <a:rPr lang="en-US" sz="1500" dirty="0">
                <a:latin typeface="Century Gothic (Основной текст)"/>
                <a:ea typeface="Times New Roman"/>
                <a:cs typeface="Times New Roman"/>
              </a:rPr>
              <a:t>-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карта, созданная нами.</a:t>
            </a:r>
            <a:endParaRPr lang="en-US" sz="1500" dirty="0">
              <a:latin typeface="Century Gothic (Основной текст)"/>
              <a:ea typeface="Times New Roman"/>
              <a:cs typeface="Times New Roman"/>
            </a:endParaRPr>
          </a:p>
          <a:p>
            <a:endParaRPr lang="ru-RU" sz="1500" dirty="0">
              <a:latin typeface="Century Gothic (Основной текст)"/>
            </a:endParaRPr>
          </a:p>
          <a:p>
            <a:endParaRPr lang="ru-RU" sz="1400" dirty="0"/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15FFB90-B0D4-94D0-013C-57DE63A7F4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386" y="2043662"/>
            <a:ext cx="3618367" cy="177149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33F92BC-1032-E3DE-CF54-9711BC97C9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385" y="4447947"/>
            <a:ext cx="3618367" cy="17305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31C2ACA-932C-B2A5-1ACF-1FF61CFCCF64}"/>
              </a:ext>
            </a:extLst>
          </p:cNvPr>
          <p:cNvSpPr txBox="1"/>
          <p:nvPr/>
        </p:nvSpPr>
        <p:spPr>
          <a:xfrm>
            <a:off x="8193386" y="3815154"/>
            <a:ext cx="361836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dirty="0"/>
              <a:t>Рис.3 – пейзаж из мира игры </a:t>
            </a:r>
          </a:p>
          <a:p>
            <a:r>
              <a:rPr lang="ru-RU" sz="1500" dirty="0"/>
              <a:t>в светлой теме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0692AF-E09E-0139-7CF2-92985F342FC2}"/>
              </a:ext>
            </a:extLst>
          </p:cNvPr>
          <p:cNvSpPr txBox="1"/>
          <p:nvPr/>
        </p:nvSpPr>
        <p:spPr>
          <a:xfrm>
            <a:off x="8203072" y="6140644"/>
            <a:ext cx="36086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dirty="0"/>
              <a:t>Рис.3 – пейзаж из мира игры </a:t>
            </a:r>
          </a:p>
          <a:p>
            <a:r>
              <a:rPr lang="ru-RU" sz="1500" dirty="0"/>
              <a:t>в тёмной теме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878528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06401E-A251-F1E3-CF12-471095BD7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C2F877-A019-C601-8155-8423107E1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>
                <a:latin typeface="Century Gothic (Основной текст)"/>
              </a:rPr>
              <a:t>В результате проделанной работы была разработана полноценная 2</a:t>
            </a:r>
            <a:r>
              <a:rPr lang="en-US" dirty="0">
                <a:latin typeface="Century Gothic (Основной текст)"/>
              </a:rPr>
              <a:t>d</a:t>
            </a:r>
            <a:r>
              <a:rPr lang="ru-RU" dirty="0">
                <a:latin typeface="Century Gothic (Основной текст)"/>
              </a:rPr>
              <a:t> онлайн игра с системой битв, сюжетом и изображениями. Также в игре можно открыть настройки как в меню, так и во время игры. </a:t>
            </a:r>
          </a:p>
          <a:p>
            <a:r>
              <a:rPr lang="ru-RU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Нами были получены знания по игровой разработке в небольшой команде, а так же мы получили большой опыт в работе с нейросетями.</a:t>
            </a:r>
            <a:r>
              <a:rPr lang="en-US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Полученные навыки программирования позволят нам дальше развивать свой продукт и создавать новые увлекательные игры.</a:t>
            </a:r>
          </a:p>
          <a:p>
            <a:endParaRPr lang="ru-RU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55097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B0DD21-71E9-BE84-8E00-9CE16289D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Дальнейшее развитие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BF2EF1-F377-C4F2-FC96-4B0A712EE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359" y="1706240"/>
            <a:ext cx="10554574" cy="3636511"/>
          </a:xfrm>
        </p:spPr>
        <p:txBody>
          <a:bodyPr/>
          <a:lstStyle/>
          <a:p>
            <a:r>
              <a:rPr lang="ru-RU" dirty="0"/>
              <a:t>В будущем планируется продолжить разработку нашей игры. Также планируется добавить систему миссий и заданий, выполняя которые игрок будет получать игровую валюту, которую сможет обменять на улучшенную броню или оружие. 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33178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7A4D73-96C1-92C1-C364-962CC7111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литературы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E72383-4E70-4F03-5CF2-9772EEB509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just">
              <a:lnSpc>
                <a:spcPts val="2145"/>
              </a:lnSpc>
              <a:spcBef>
                <a:spcPts val="1030"/>
              </a:spcBef>
              <a:spcAft>
                <a:spcPts val="1030"/>
              </a:spcAft>
              <a:buFont typeface="+mj-lt"/>
              <a:buAutoNum type="arabicPeriod"/>
            </a:pPr>
            <a:r>
              <a:rPr lang="ru-RU" dirty="0"/>
              <a:t>Hammerwatch 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– URL:</a:t>
            </a:r>
            <a:r>
              <a:rPr lang="en-US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ea typeface="Times New Roman"/>
                <a:cs typeface="Times New Roman"/>
                <a:hlinkClick r:id="rId2"/>
              </a:rPr>
              <a:t>https://hammerwatch.com</a:t>
            </a:r>
            <a:endParaRPr lang="en-US" dirty="0">
              <a:latin typeface="Times New Roman"/>
              <a:ea typeface="Times New Roman"/>
              <a:cs typeface="Times New Roman"/>
            </a:endParaRPr>
          </a:p>
          <a:p>
            <a:pPr lvl="0" algn="just">
              <a:lnSpc>
                <a:spcPts val="2145"/>
              </a:lnSpc>
              <a:spcBef>
                <a:spcPts val="1030"/>
              </a:spcBef>
              <a:spcAft>
                <a:spcPts val="1030"/>
              </a:spcAft>
              <a:buFont typeface="+mj-lt"/>
              <a:buAutoNum type="arabicPeriod"/>
            </a:pPr>
            <a:r>
              <a:rPr lang="ru-RU" dirty="0">
                <a:latin typeface="Times New Roman"/>
                <a:ea typeface="Times New Roman"/>
                <a:cs typeface="Times New Roman"/>
              </a:rPr>
              <a:t>AI Image </a:t>
            </a:r>
            <a:r>
              <a:rPr lang="ru-RU" dirty="0" err="1">
                <a:latin typeface="Times New Roman"/>
                <a:ea typeface="Times New Roman"/>
                <a:cs typeface="Times New Roman"/>
              </a:rPr>
              <a:t>Generator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 – URL: </a:t>
            </a:r>
            <a:r>
              <a:rPr lang="ru-RU" u="sng" dirty="0">
                <a:latin typeface="Times New Roman"/>
                <a:ea typeface="Times New Roman"/>
                <a:cs typeface="Times New Roman"/>
                <a:hlinkClick r:id="rId3"/>
              </a:rPr>
              <a:t>https://leonardo.ai</a:t>
            </a:r>
            <a:endParaRPr lang="en-US" u="sng" dirty="0">
              <a:latin typeface="Times New Roman"/>
              <a:ea typeface="Times New Roman"/>
              <a:cs typeface="Times New Roman"/>
            </a:endParaRPr>
          </a:p>
          <a:p>
            <a:pPr lvl="0" algn="just">
              <a:lnSpc>
                <a:spcPts val="2145"/>
              </a:lnSpc>
              <a:spcBef>
                <a:spcPts val="1030"/>
              </a:spcBef>
              <a:spcAft>
                <a:spcPts val="1030"/>
              </a:spcAft>
              <a:buFont typeface="+mj-lt"/>
              <a:buAutoNum type="arabicPeriod"/>
            </a:pPr>
            <a:r>
              <a:rPr lang="ru-RU" dirty="0" err="1">
                <a:latin typeface="Times New Roman"/>
                <a:ea typeface="Times New Roman"/>
                <a:cs typeface="Times New Roman"/>
              </a:rPr>
              <a:t>Pygame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dirty="0" err="1">
                <a:latin typeface="Times New Roman"/>
                <a:ea typeface="Times New Roman"/>
                <a:cs typeface="Times New Roman"/>
              </a:rPr>
              <a:t>Github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 – URL: </a:t>
            </a:r>
            <a:r>
              <a:rPr lang="ru-RU" u="sng" dirty="0">
                <a:latin typeface="Times New Roman"/>
                <a:ea typeface="Times New Roman"/>
                <a:cs typeface="Times New Roman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https://github.com/pygame/pygame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 </a:t>
            </a:r>
            <a:endParaRPr lang="en-US" dirty="0">
              <a:latin typeface="Times New Roman"/>
              <a:ea typeface="Times New Roman"/>
              <a:cs typeface="Times New Roman"/>
            </a:endParaRPr>
          </a:p>
          <a:p>
            <a:pPr lvl="0" algn="just">
              <a:lnSpc>
                <a:spcPts val="2145"/>
              </a:lnSpc>
              <a:spcBef>
                <a:spcPts val="1030"/>
              </a:spcBef>
              <a:spcAft>
                <a:spcPts val="1030"/>
              </a:spcAft>
              <a:buFont typeface="+mj-lt"/>
              <a:buAutoNum type="arabicPeriod"/>
            </a:pPr>
            <a:r>
              <a:rPr lang="ru-RU" dirty="0">
                <a:latin typeface="Times New Roman"/>
                <a:ea typeface="Times New Roman"/>
                <a:cs typeface="Times New Roman"/>
              </a:rPr>
              <a:t>Капитализация игровых издателей и компаний – URL: </a:t>
            </a:r>
            <a:r>
              <a:rPr lang="ru-RU" u="sng" dirty="0">
                <a:latin typeface="Times New Roman"/>
                <a:ea typeface="Times New Roman"/>
                <a:cs typeface="Times New Roman"/>
              </a:rPr>
              <a:t>https://companiesmarketcap.com/video-games/largest-video-game-companies-by-market-cap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221176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EAB89-91F4-8CDF-990B-80055D72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6A517FD8-6CED-5639-9DDD-6F23C85BBF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4341" y="2264713"/>
            <a:ext cx="4365575" cy="4346677"/>
          </a:xfrm>
        </p:spPr>
      </p:pic>
    </p:spTree>
    <p:extLst>
      <p:ext uri="{BB962C8B-B14F-4D97-AF65-F5344CB8AC3E}">
        <p14:creationId xmlns:p14="http://schemas.microsoft.com/office/powerpoint/2010/main" val="71350393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Цитаты">
  <a:themeElements>
    <a:clrScheme name="Цитаты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Цитаты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Цитаты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Цитаты</Template>
  <TotalTime>60</TotalTime>
  <Words>713</Words>
  <Application>Microsoft Office PowerPoint</Application>
  <PresentationFormat>Широкоэкранный</PresentationFormat>
  <Paragraphs>48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Arial</vt:lpstr>
      <vt:lpstr>Century Gothic</vt:lpstr>
      <vt:lpstr>Century Gothic (Основной текст)</vt:lpstr>
      <vt:lpstr>Times New Roman</vt:lpstr>
      <vt:lpstr>Wingdings 2</vt:lpstr>
      <vt:lpstr>Цитаты</vt:lpstr>
      <vt:lpstr>Проектная работа  «ТЕКСТОВЫЙ КВЕСТ НА ЯЗЫКЕ ПРОГРАММИРОВАНИЯ PYTHON С ИСПОЛЬЗОВАНИЕМ ВНЕШНЕЙ БИБЛИОТЕКИ PYGAME» </vt:lpstr>
      <vt:lpstr>Введение и актуальность проектной работы</vt:lpstr>
      <vt:lpstr>Новизна, цель и задачи проектной работы</vt:lpstr>
      <vt:lpstr>Обзор существующих аналогов</vt:lpstr>
      <vt:lpstr>Алгоритм работы игры</vt:lpstr>
      <vt:lpstr>Принцип работы кода</vt:lpstr>
      <vt:lpstr>Мир и графика игры</vt:lpstr>
      <vt:lpstr>Заключение</vt:lpstr>
      <vt:lpstr>Дальнейшее развитие проекта</vt:lpstr>
      <vt:lpstr>Список литературы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bobtre FreeZoN</dc:creator>
  <cp:lastModifiedBy>bobtre FreeZoN</cp:lastModifiedBy>
  <cp:revision>3</cp:revision>
  <dcterms:created xsi:type="dcterms:W3CDTF">2026-01-10T12:43:09Z</dcterms:created>
  <dcterms:modified xsi:type="dcterms:W3CDTF">2026-01-10T13:43:34Z</dcterms:modified>
</cp:coreProperties>
</file>