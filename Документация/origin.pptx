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2" r:id="rId9"/>
    <p:sldId id="263" r:id="rId10"/>
    <p:sldId id="264" r:id="rId11"/>
    <p:sldId id="265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-3175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5760" y="0"/>
                </a:moveTo>
                <a:lnTo>
                  <a:pt x="0" y="0"/>
                </a:lnTo>
                <a:lnTo>
                  <a:pt x="0" y="3090"/>
                </a:lnTo>
                <a:lnTo>
                  <a:pt x="943" y="3090"/>
                </a:lnTo>
                <a:lnTo>
                  <a:pt x="1123" y="3270"/>
                </a:lnTo>
                <a:lnTo>
                  <a:pt x="1123" y="3270"/>
                </a:lnTo>
                <a:lnTo>
                  <a:pt x="1127" y="3272"/>
                </a:lnTo>
                <a:lnTo>
                  <a:pt x="1133" y="3275"/>
                </a:lnTo>
                <a:lnTo>
                  <a:pt x="1139" y="3278"/>
                </a:lnTo>
                <a:lnTo>
                  <a:pt x="1144" y="3278"/>
                </a:lnTo>
                <a:lnTo>
                  <a:pt x="1150" y="3278"/>
                </a:lnTo>
                <a:lnTo>
                  <a:pt x="1155" y="3275"/>
                </a:lnTo>
                <a:lnTo>
                  <a:pt x="1161" y="3272"/>
                </a:lnTo>
                <a:lnTo>
                  <a:pt x="1165" y="3270"/>
                </a:lnTo>
                <a:lnTo>
                  <a:pt x="1345" y="3090"/>
                </a:lnTo>
                <a:lnTo>
                  <a:pt x="5760" y="3090"/>
                </a:lnTo>
                <a:lnTo>
                  <a:pt x="5760" y="0"/>
                </a:lnTo>
                <a:close/>
              </a:path>
            </a:pathLst>
          </a:custGeom>
          <a:ln/>
          <a:effectLst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10001" y="1449147"/>
            <a:ext cx="10572000" cy="2971051"/>
          </a:xfrm>
        </p:spPr>
        <p:txBody>
          <a:bodyPr/>
          <a:lstStyle>
            <a:lvl1pPr>
              <a:defRPr sz="5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280847"/>
            <a:ext cx="10572000" cy="434974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869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8712" y="2222287"/>
            <a:ext cx="10554574" cy="363651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7402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7"/>
          <p:cNvSpPr/>
          <p:nvPr/>
        </p:nvSpPr>
        <p:spPr bwMode="auto">
          <a:xfrm>
            <a:off x="0" y="1"/>
            <a:ext cx="12192000" cy="5203825"/>
          </a:xfrm>
          <a:custGeom>
            <a:avLst/>
            <a:gdLst/>
            <a:ahLst/>
            <a:cxnLst/>
            <a:rect l="0" t="0" r="r" b="b"/>
            <a:pathLst>
              <a:path w="5760" h="3278">
                <a:moveTo>
                  <a:pt x="0" y="0"/>
                </a:moveTo>
                <a:lnTo>
                  <a:pt x="5760" y="0"/>
                </a:lnTo>
                <a:lnTo>
                  <a:pt x="5760" y="3090"/>
                </a:lnTo>
                <a:lnTo>
                  <a:pt x="4817" y="3090"/>
                </a:lnTo>
                <a:lnTo>
                  <a:pt x="4637" y="3270"/>
                </a:lnTo>
                <a:lnTo>
                  <a:pt x="4637" y="3270"/>
                </a:lnTo>
                <a:lnTo>
                  <a:pt x="4633" y="3272"/>
                </a:lnTo>
                <a:lnTo>
                  <a:pt x="4627" y="3275"/>
                </a:lnTo>
                <a:lnTo>
                  <a:pt x="4621" y="3278"/>
                </a:lnTo>
                <a:lnTo>
                  <a:pt x="4616" y="3278"/>
                </a:lnTo>
                <a:lnTo>
                  <a:pt x="4610" y="3278"/>
                </a:lnTo>
                <a:lnTo>
                  <a:pt x="4605" y="3275"/>
                </a:lnTo>
                <a:lnTo>
                  <a:pt x="4599" y="3272"/>
                </a:lnTo>
                <a:lnTo>
                  <a:pt x="4595" y="3270"/>
                </a:lnTo>
                <a:lnTo>
                  <a:pt x="4415" y="3090"/>
                </a:lnTo>
                <a:lnTo>
                  <a:pt x="0" y="309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2951396"/>
            <a:ext cx="10561418" cy="1468800"/>
          </a:xfrm>
        </p:spPr>
        <p:txBody>
          <a:bodyPr anchor="b"/>
          <a:lstStyle>
            <a:lvl1pPr algn="r">
              <a:defRPr sz="48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5281201"/>
            <a:ext cx="10561418" cy="433955"/>
          </a:xfrm>
        </p:spPr>
        <p:txBody>
          <a:bodyPr anchor="t">
            <a:no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80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8712" y="2222287"/>
            <a:ext cx="5185873" cy="36387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7415" y="2222287"/>
            <a:ext cx="5194583" cy="3638764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89957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4728" y="2174875"/>
            <a:ext cx="5189857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4729" y="2751138"/>
            <a:ext cx="5189856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7415" y="2174875"/>
            <a:ext cx="5194583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7415" y="2751138"/>
            <a:ext cx="5194583" cy="3109913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03561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2437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88093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1073151" y="446087"/>
            <a:ext cx="3547533" cy="1814651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3151" y="446088"/>
            <a:ext cx="3547533" cy="161839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446088"/>
            <a:ext cx="6252633" cy="5414963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73151" y="2260738"/>
            <a:ext cx="3547533" cy="36003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74604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4728" y="727522"/>
            <a:ext cx="4852988" cy="1617163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9" name="Picture Placeholder 11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6098117" y="0"/>
            <a:ext cx="6093883" cy="6858000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noFill/>
          <a:ln w="9525">
            <a:solidFill>
              <a:schemeClr val="tx2"/>
            </a:solidFill>
            <a:round/>
            <a:headEnd/>
            <a:tailEnd/>
          </a:ln>
          <a:effectLst/>
        </p:spPr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algn="ctr">
              <a:buFontTx/>
              <a:buNone/>
              <a:defRPr sz="14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4728" y="2344684"/>
            <a:ext cx="4852988" cy="3516365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885810" y="6041362"/>
            <a:ext cx="976879" cy="365125"/>
          </a:xfrm>
        </p:spPr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90396" y="6041362"/>
            <a:ext cx="3295413" cy="365125"/>
          </a:xfrm>
        </p:spPr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862689" y="5915888"/>
            <a:ext cx="1062155" cy="490599"/>
          </a:xfrm>
        </p:spPr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0278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0000" y="4800600"/>
            <a:ext cx="10561418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5" name="Picture Placeholder 14"/>
          <p:cNvSpPr>
            <a:spLocks noGrp="1" noChangeAspect="1"/>
          </p:cNvSpPr>
          <p:nvPr>
            <p:ph type="pic" sz="quarter" idx="13"/>
          </p:nvPr>
        </p:nvSpPr>
        <p:spPr bwMode="auto">
          <a:xfrm>
            <a:off x="0" y="0"/>
            <a:ext cx="12192000" cy="4800600"/>
          </a:xfrm>
          <a:custGeom>
            <a:avLst/>
            <a:gdLst/>
            <a:ahLst/>
            <a:cxnLst/>
            <a:rect l="0" t="0" r="r" b="b"/>
            <a:pathLst>
              <a:path w="5760" h="3289">
                <a:moveTo>
                  <a:pt x="5760" y="0"/>
                </a:moveTo>
                <a:lnTo>
                  <a:pt x="0" y="0"/>
                </a:lnTo>
                <a:lnTo>
                  <a:pt x="0" y="3100"/>
                </a:lnTo>
                <a:lnTo>
                  <a:pt x="943" y="3100"/>
                </a:lnTo>
                <a:lnTo>
                  <a:pt x="1123" y="3281"/>
                </a:lnTo>
                <a:lnTo>
                  <a:pt x="1123" y="3281"/>
                </a:lnTo>
                <a:lnTo>
                  <a:pt x="1127" y="3283"/>
                </a:lnTo>
                <a:lnTo>
                  <a:pt x="1133" y="3286"/>
                </a:lnTo>
                <a:lnTo>
                  <a:pt x="1139" y="3289"/>
                </a:lnTo>
                <a:lnTo>
                  <a:pt x="1144" y="3289"/>
                </a:lnTo>
                <a:lnTo>
                  <a:pt x="1150" y="3289"/>
                </a:lnTo>
                <a:lnTo>
                  <a:pt x="1155" y="3286"/>
                </a:lnTo>
                <a:lnTo>
                  <a:pt x="1161" y="3283"/>
                </a:lnTo>
                <a:lnTo>
                  <a:pt x="1165" y="3281"/>
                </a:lnTo>
                <a:lnTo>
                  <a:pt x="1345" y="3100"/>
                </a:lnTo>
                <a:lnTo>
                  <a:pt x="5760" y="3100"/>
                </a:lnTo>
                <a:lnTo>
                  <a:pt x="5760" y="0"/>
                </a:lnTo>
                <a:close/>
              </a:path>
            </a:pathLst>
          </a:custGeom>
          <a:noFill/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numCol="1" anchor="t" anchorCtr="0" compatLnSpc="1">
            <a:prstTxWarp prst="textNoShape">
              <a:avLst/>
            </a:prstTxWarp>
            <a:normAutofit/>
          </a:bodyPr>
          <a:lstStyle>
            <a:lvl1pPr marL="0" indent="0" algn="ctr">
              <a:buFontTx/>
              <a:buNone/>
              <a:defRPr sz="1600"/>
            </a:lvl1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0000" y="5367338"/>
            <a:ext cx="1056141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769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6"/>
          <p:cNvSpPr>
            <a:spLocks noChangeAspect="1"/>
          </p:cNvSpPr>
          <p:nvPr/>
        </p:nvSpPr>
        <p:spPr bwMode="auto">
          <a:xfrm>
            <a:off x="631697" y="1081456"/>
            <a:ext cx="6332416" cy="3239188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0985" y="1238502"/>
            <a:ext cx="5893840" cy="2645912"/>
          </a:xfrm>
        </p:spPr>
        <p:txBody>
          <a:bodyPr anchor="b"/>
          <a:lstStyle>
            <a:lvl1pPr algn="l">
              <a:defRPr sz="4200" b="1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3190" y="4443680"/>
            <a:ext cx="5891636" cy="713241"/>
          </a:xfrm>
        </p:spPr>
        <p:txBody>
          <a:bodyPr anchor="t">
            <a:no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574642" y="1081456"/>
            <a:ext cx="3810001" cy="407546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61654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6"/>
          <p:cNvSpPr>
            <a:spLocks noChangeAspect="1"/>
          </p:cNvSpPr>
          <p:nvPr/>
        </p:nvSpPr>
        <p:spPr bwMode="auto">
          <a:xfrm>
            <a:off x="1140884" y="2286585"/>
            <a:ext cx="4895115" cy="2503972"/>
          </a:xfrm>
          <a:custGeom>
            <a:avLst/>
            <a:gdLst/>
            <a:ahLst/>
            <a:cxnLst/>
            <a:rect l="0" t="0" r="r" b="b"/>
            <a:pathLst>
              <a:path w="3384" h="2308">
                <a:moveTo>
                  <a:pt x="3340" y="0"/>
                </a:moveTo>
                <a:lnTo>
                  <a:pt x="44" y="0"/>
                </a:lnTo>
                <a:lnTo>
                  <a:pt x="44" y="0"/>
                </a:lnTo>
                <a:lnTo>
                  <a:pt x="34" y="0"/>
                </a:lnTo>
                <a:lnTo>
                  <a:pt x="26" y="4"/>
                </a:lnTo>
                <a:lnTo>
                  <a:pt x="20" y="8"/>
                </a:lnTo>
                <a:lnTo>
                  <a:pt x="12" y="12"/>
                </a:lnTo>
                <a:lnTo>
                  <a:pt x="8" y="20"/>
                </a:lnTo>
                <a:lnTo>
                  <a:pt x="4" y="26"/>
                </a:lnTo>
                <a:lnTo>
                  <a:pt x="0" y="34"/>
                </a:lnTo>
                <a:lnTo>
                  <a:pt x="0" y="44"/>
                </a:lnTo>
                <a:lnTo>
                  <a:pt x="0" y="2076"/>
                </a:lnTo>
                <a:lnTo>
                  <a:pt x="0" y="2076"/>
                </a:lnTo>
                <a:lnTo>
                  <a:pt x="0" y="2086"/>
                </a:lnTo>
                <a:lnTo>
                  <a:pt x="4" y="2094"/>
                </a:lnTo>
                <a:lnTo>
                  <a:pt x="8" y="2100"/>
                </a:lnTo>
                <a:lnTo>
                  <a:pt x="12" y="2108"/>
                </a:lnTo>
                <a:lnTo>
                  <a:pt x="20" y="2112"/>
                </a:lnTo>
                <a:lnTo>
                  <a:pt x="26" y="2116"/>
                </a:lnTo>
                <a:lnTo>
                  <a:pt x="34" y="2120"/>
                </a:lnTo>
                <a:lnTo>
                  <a:pt x="44" y="2120"/>
                </a:lnTo>
                <a:lnTo>
                  <a:pt x="474" y="2120"/>
                </a:lnTo>
                <a:lnTo>
                  <a:pt x="650" y="2296"/>
                </a:lnTo>
                <a:lnTo>
                  <a:pt x="650" y="2296"/>
                </a:lnTo>
                <a:lnTo>
                  <a:pt x="656" y="2300"/>
                </a:lnTo>
                <a:lnTo>
                  <a:pt x="664" y="2304"/>
                </a:lnTo>
                <a:lnTo>
                  <a:pt x="672" y="2308"/>
                </a:lnTo>
                <a:lnTo>
                  <a:pt x="680" y="2308"/>
                </a:lnTo>
                <a:lnTo>
                  <a:pt x="688" y="2308"/>
                </a:lnTo>
                <a:lnTo>
                  <a:pt x="696" y="2304"/>
                </a:lnTo>
                <a:lnTo>
                  <a:pt x="704" y="2300"/>
                </a:lnTo>
                <a:lnTo>
                  <a:pt x="710" y="2296"/>
                </a:lnTo>
                <a:lnTo>
                  <a:pt x="886" y="2120"/>
                </a:lnTo>
                <a:lnTo>
                  <a:pt x="3340" y="2120"/>
                </a:lnTo>
                <a:lnTo>
                  <a:pt x="3340" y="2120"/>
                </a:lnTo>
                <a:lnTo>
                  <a:pt x="3350" y="2120"/>
                </a:lnTo>
                <a:lnTo>
                  <a:pt x="3358" y="2116"/>
                </a:lnTo>
                <a:lnTo>
                  <a:pt x="3364" y="2112"/>
                </a:lnTo>
                <a:lnTo>
                  <a:pt x="3372" y="2108"/>
                </a:lnTo>
                <a:lnTo>
                  <a:pt x="3376" y="2100"/>
                </a:lnTo>
                <a:lnTo>
                  <a:pt x="3380" y="2094"/>
                </a:lnTo>
                <a:lnTo>
                  <a:pt x="3384" y="2086"/>
                </a:lnTo>
                <a:lnTo>
                  <a:pt x="3384" y="2076"/>
                </a:lnTo>
                <a:lnTo>
                  <a:pt x="3384" y="44"/>
                </a:lnTo>
                <a:lnTo>
                  <a:pt x="3384" y="44"/>
                </a:lnTo>
                <a:lnTo>
                  <a:pt x="3384" y="34"/>
                </a:lnTo>
                <a:lnTo>
                  <a:pt x="3380" y="26"/>
                </a:lnTo>
                <a:lnTo>
                  <a:pt x="3376" y="20"/>
                </a:lnTo>
                <a:lnTo>
                  <a:pt x="3372" y="12"/>
                </a:lnTo>
                <a:lnTo>
                  <a:pt x="3364" y="8"/>
                </a:lnTo>
                <a:lnTo>
                  <a:pt x="3358" y="4"/>
                </a:lnTo>
                <a:lnTo>
                  <a:pt x="3350" y="0"/>
                </a:lnTo>
                <a:lnTo>
                  <a:pt x="3340" y="0"/>
                </a:lnTo>
                <a:lnTo>
                  <a:pt x="3340" y="0"/>
                </a:lnTo>
                <a:close/>
              </a:path>
            </a:pathLst>
          </a:cu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38" name="Title 1"/>
          <p:cNvSpPr>
            <a:spLocks noGrp="1"/>
          </p:cNvSpPr>
          <p:nvPr>
            <p:ph type="title"/>
          </p:nvPr>
        </p:nvSpPr>
        <p:spPr>
          <a:xfrm>
            <a:off x="1357089" y="2435957"/>
            <a:ext cx="4382521" cy="2007789"/>
          </a:xfrm>
        </p:spPr>
        <p:txBody>
          <a:bodyPr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6156000" y="2286000"/>
            <a:ext cx="4880300" cy="2295525"/>
          </a:xfrm>
        </p:spPr>
        <p:txBody>
          <a:bodyPr anchor="t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35196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 bwMode="auto">
          <a:xfrm>
            <a:off x="0" y="0"/>
            <a:ext cx="12192000" cy="2185988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727291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6"/>
          <p:cNvSpPr>
            <a:spLocks noChangeAspect="1"/>
          </p:cNvSpPr>
          <p:nvPr/>
        </p:nvSpPr>
        <p:spPr bwMode="auto">
          <a:xfrm>
            <a:off x="7669651" y="446089"/>
            <a:ext cx="4522349" cy="5414962"/>
          </a:xfrm>
          <a:custGeom>
            <a:avLst/>
            <a:gdLst/>
            <a:ahLst/>
            <a:cxnLst/>
            <a:rect l="0" t="0" r="r" b="b"/>
            <a:pathLst>
              <a:path w="2879" h="4320">
                <a:moveTo>
                  <a:pt x="183" y="0"/>
                </a:moveTo>
                <a:lnTo>
                  <a:pt x="183" y="1197"/>
                </a:lnTo>
                <a:lnTo>
                  <a:pt x="8" y="1372"/>
                </a:lnTo>
                <a:lnTo>
                  <a:pt x="8" y="1372"/>
                </a:lnTo>
                <a:lnTo>
                  <a:pt x="6" y="1376"/>
                </a:lnTo>
                <a:lnTo>
                  <a:pt x="3" y="1382"/>
                </a:lnTo>
                <a:lnTo>
                  <a:pt x="0" y="1387"/>
                </a:lnTo>
                <a:lnTo>
                  <a:pt x="0" y="1393"/>
                </a:lnTo>
                <a:lnTo>
                  <a:pt x="0" y="1399"/>
                </a:lnTo>
                <a:lnTo>
                  <a:pt x="3" y="1404"/>
                </a:lnTo>
                <a:lnTo>
                  <a:pt x="6" y="1410"/>
                </a:lnTo>
                <a:lnTo>
                  <a:pt x="8" y="1414"/>
                </a:lnTo>
                <a:lnTo>
                  <a:pt x="183" y="1589"/>
                </a:lnTo>
                <a:lnTo>
                  <a:pt x="183" y="4320"/>
                </a:lnTo>
                <a:lnTo>
                  <a:pt x="2879" y="4320"/>
                </a:lnTo>
                <a:lnTo>
                  <a:pt x="2879" y="0"/>
                </a:lnTo>
                <a:lnTo>
                  <a:pt x="183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83540" y="586171"/>
            <a:ext cx="2494791" cy="513479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0001" y="446089"/>
            <a:ext cx="6611540" cy="5414962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6855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0000" y="447188"/>
            <a:ext cx="10571998" cy="970450"/>
          </a:xfrm>
          <a:prstGeom prst="rect">
            <a:avLst/>
          </a:prstGeom>
          <a:effectLst>
            <a:outerShdw blurRad="50800" dir="14400000">
              <a:srgbClr val="000000">
                <a:alpha val="60000"/>
              </a:srgbClr>
            </a:outerShdw>
          </a:effectLst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0000" y="2184401"/>
            <a:ext cx="10563285" cy="3674397"/>
          </a:xfrm>
          <a:prstGeom prst="rect">
            <a:avLst/>
          </a:prstGeom>
          <a:effectLst>
            <a:outerShdw blurRad="50800" dir="14400000">
              <a:srgbClr val="000000">
                <a:alpha val="40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1514" y="6041362"/>
            <a:ext cx="8644320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334626" y="6041362"/>
            <a:ext cx="1343706" cy="3651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347CDDA7-3639-427C-82C8-5EF73E14CBE3}" type="datetimeFigureOut">
              <a:rPr lang="ru-RU" smtClean="0"/>
              <a:t>19.01.2026</a:t>
            </a:fld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78331" y="5915888"/>
            <a:ext cx="1062155" cy="490599"/>
          </a:xfrm>
          <a:prstGeom prst="rect">
            <a:avLst/>
          </a:prstGeom>
        </p:spPr>
        <p:txBody>
          <a:bodyPr vert="horz" lIns="91440" tIns="45720" rIns="91440" bIns="10800" rtlCol="0" anchor="b"/>
          <a:lstStyle>
            <a:lvl1pPr algn="r">
              <a:defRPr sz="2000">
                <a:solidFill>
                  <a:schemeClr val="accent1"/>
                </a:solidFill>
              </a:defRPr>
            </a:lvl1pPr>
          </a:lstStyle>
          <a:p>
            <a:fld id="{CE008903-557F-423E-A0C0-FB243518669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330276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</p:sldLayoutIdLst>
  <p:txStyles>
    <p:titleStyle>
      <a:lvl1pPr algn="l" defTabSz="457200" rtl="0" eaLnBrk="1" latinLnBrk="0" hangingPunct="1">
        <a:spcBef>
          <a:spcPct val="0"/>
        </a:spcBef>
        <a:buNone/>
        <a:defRPr sz="4000" b="1" kern="1200">
          <a:solidFill>
            <a:srgbClr val="FEFEFE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4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36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Font typeface="Wingdings 2" charset="2"/>
        <a:buChar char="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leonardo.ai/" TargetMode="External"/><Relationship Id="rId2" Type="http://schemas.openxmlformats.org/officeDocument/2006/relationships/hyperlink" Target="https://hammerwatch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pygame/pygame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CFD07B-4D48-29D2-4701-3D7BA34CB6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78460"/>
            <a:ext cx="12192000" cy="2971051"/>
          </a:xfrm>
        </p:spPr>
        <p:txBody>
          <a:bodyPr/>
          <a:lstStyle/>
          <a:p>
            <a:pPr algn="ctr"/>
            <a:r>
              <a:rPr lang="ru-RU" sz="2000" dirty="0">
                <a:latin typeface="Times New Roman"/>
                <a:ea typeface="Times New Roman"/>
                <a:cs typeface="Times New Roman"/>
              </a:rPr>
              <a:t>Проектная работа </a:t>
            </a:r>
            <a:br>
              <a:rPr lang="ru-RU" sz="2000" dirty="0">
                <a:latin typeface="Times New Roman"/>
                <a:ea typeface="Times New Roman"/>
                <a:cs typeface="Times New Roman"/>
              </a:rPr>
            </a:br>
            <a:r>
              <a:rPr lang="ru-RU" sz="2000" dirty="0">
                <a:latin typeface="Times New Roman"/>
                <a:ea typeface="Times New Roman"/>
                <a:cs typeface="Times New Roman"/>
              </a:rPr>
              <a:t>«ТЕКСТОВЫЙ КВЕСТ НА ЯЗЫКЕ ПРОГРАММИРОВАНИЯ PYTHON С ИСПОЛЬЗОВАНИЕМ ВНЕШНЕЙ БИБЛИОТЕКИ PYGAME»</a:t>
            </a:r>
            <a:r>
              <a:rPr lang="ru-RU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/>
            </a:r>
            <a:br>
              <a:rPr lang="ru-RU" spc="-1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234D390-397F-875E-3B5A-9EB59DD0E6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5999" y="5128878"/>
            <a:ext cx="6096001" cy="434974"/>
          </a:xfrm>
        </p:spPr>
        <p:txBody>
          <a:bodyPr>
            <a:noAutofit/>
          </a:bodyPr>
          <a:lstStyle/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Выполнили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Ученик 8 «П» класса ГБОУ школы </a:t>
            </a:r>
            <a:r>
              <a:rPr lang="ru-RU" sz="1200" spc="-1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№2065</a:t>
            </a:r>
            <a:r>
              <a:rPr lang="en-US" sz="1200" spc="-1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 </a:t>
            </a:r>
            <a:r>
              <a:rPr lang="ru-RU" sz="1200" spc="-1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Леонов Ярослав Александрович</a:t>
            </a:r>
          </a:p>
          <a:p>
            <a:pPr algn="r"/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Ученик 8 «Б» класса школы </a:t>
            </a:r>
            <a:r>
              <a:rPr lang="ru-RU" sz="1200" spc="-10" dirty="0">
                <a:latin typeface="Times New Roman" panose="02020603050405020304" pitchFamily="18" charset="0"/>
                <a:ea typeface="Times New Roman"/>
                <a:cs typeface="Times New Roman" panose="02020603050405020304" pitchFamily="18" charset="0"/>
              </a:rPr>
              <a:t>№2065 Мацнев Илья Антонович</a:t>
            </a:r>
          </a:p>
          <a:p>
            <a:pPr algn="r"/>
            <a:r>
              <a:rPr lang="ru-RU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 проекта</a:t>
            </a:r>
            <a:r>
              <a:rPr lang="en-US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r"/>
            <a:r>
              <a:rPr lang="ru-RU" sz="12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Учитель информатики ГБОУ школы </a:t>
            </a:r>
            <a:r>
              <a:rPr lang="ru-RU" sz="1200" spc="-10" dirty="0">
                <a:latin typeface="Times New Roman"/>
                <a:ea typeface="Times New Roman"/>
                <a:cs typeface="Times New Roman"/>
              </a:rPr>
              <a:t>№2065 Кирсанов Максим Григорьевич</a:t>
            </a:r>
            <a:r>
              <a:rPr lang="ru-RU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E34853-C0EC-A13F-1086-8B2BA0B5751A}"/>
              </a:ext>
            </a:extLst>
          </p:cNvPr>
          <p:cNvSpPr txBox="1"/>
          <p:nvPr/>
        </p:nvSpPr>
        <p:spPr>
          <a:xfrm>
            <a:off x="518511" y="570369"/>
            <a:ext cx="1115497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b="1" spc="-25" dirty="0">
                <a:latin typeface="Times New Roman"/>
                <a:ea typeface="Times New Roman"/>
                <a:cs typeface="Times New Roman"/>
              </a:rPr>
              <a:t>Государственное</a:t>
            </a:r>
            <a:r>
              <a:rPr lang="ru-RU" sz="2000" b="1" spc="-8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spc="-10" dirty="0">
                <a:latin typeface="Times New Roman"/>
                <a:ea typeface="Times New Roman"/>
                <a:cs typeface="Times New Roman"/>
              </a:rPr>
              <a:t>бюджетное</a:t>
            </a:r>
            <a:r>
              <a:rPr lang="ru-RU" sz="2000" b="1" spc="-4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spc="-10" dirty="0">
                <a:latin typeface="Times New Roman"/>
                <a:ea typeface="Times New Roman"/>
                <a:cs typeface="Times New Roman"/>
              </a:rPr>
              <a:t>общеобразовательное</a:t>
            </a:r>
            <a:r>
              <a:rPr lang="ru-RU" sz="2000" b="1" spc="-65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spc="-10" dirty="0">
                <a:latin typeface="Times New Roman"/>
                <a:ea typeface="Times New Roman"/>
                <a:cs typeface="Times New Roman"/>
              </a:rPr>
              <a:t>учреждение города</a:t>
            </a:r>
            <a:r>
              <a:rPr lang="ru-RU" sz="2000" b="1" spc="-6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Москвы</a:t>
            </a:r>
            <a:r>
              <a:rPr lang="ru-RU" sz="2000" b="1" spc="-7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«Школа</a:t>
            </a:r>
            <a:r>
              <a:rPr lang="ru-RU" sz="2000" b="1" spc="-7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dirty="0">
                <a:latin typeface="Times New Roman"/>
                <a:ea typeface="Times New Roman"/>
                <a:cs typeface="Times New Roman"/>
              </a:rPr>
              <a:t>№</a:t>
            </a:r>
            <a:r>
              <a:rPr lang="ru-RU" sz="2000" b="1" spc="-50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sz="2000" b="1" spc="-10" dirty="0">
                <a:latin typeface="Times New Roman"/>
                <a:ea typeface="Times New Roman"/>
                <a:cs typeface="Times New Roman"/>
              </a:rPr>
              <a:t>2065»</a:t>
            </a:r>
          </a:p>
          <a:p>
            <a:pPr algn="ctr"/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820293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E33AD8-B839-68D4-4E33-017D9F57D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Введение и актуальность проектной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A00C50-7C60-CC11-FD53-2EFA43BD2D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Мы живем в </a:t>
            </a:r>
            <a:r>
              <a:rPr lang="en-US" dirty="0"/>
              <a:t>XXI</a:t>
            </a:r>
            <a:r>
              <a:rPr lang="ru-RU" dirty="0"/>
              <a:t> веке – веке </a:t>
            </a:r>
            <a:r>
              <a:rPr lang="ru-RU" dirty="0" err="1"/>
              <a:t>компьюторных</a:t>
            </a:r>
            <a:r>
              <a:rPr lang="ru-RU" dirty="0"/>
              <a:t> технологий. Сейчас востребованными сферами являются разработчики приложений и игр. Одним из простых и современных языков является </a:t>
            </a:r>
            <a:r>
              <a:rPr lang="en-US" dirty="0"/>
              <a:t>Python</a:t>
            </a:r>
            <a:r>
              <a:rPr lang="ru-RU" dirty="0"/>
              <a:t>.</a:t>
            </a:r>
          </a:p>
          <a:p>
            <a:r>
              <a:rPr lang="ru-RU" dirty="0"/>
              <a:t>Язык «</a:t>
            </a:r>
            <a:r>
              <a:rPr lang="en-US" dirty="0"/>
              <a:t>Go</a:t>
            </a:r>
            <a:r>
              <a:rPr lang="ru-RU" dirty="0"/>
              <a:t>» известен своей простотой, высокой производительностью и эффективностью, что делает его идеальным для создания веб-сервисов, серверных приложений и облачной инфраструктуры.</a:t>
            </a:r>
          </a:p>
          <a:p>
            <a:r>
              <a:rPr lang="ru-RU" dirty="0"/>
              <a:t>Мы разработали игру «</a:t>
            </a:r>
            <a:r>
              <a:rPr lang="en-US" dirty="0"/>
              <a:t>League of adventures</a:t>
            </a:r>
            <a:r>
              <a:rPr lang="ru-RU" dirty="0"/>
              <a:t>» на языках «</a:t>
            </a:r>
            <a:r>
              <a:rPr lang="en-US" dirty="0"/>
              <a:t>python</a:t>
            </a:r>
            <a:r>
              <a:rPr lang="ru-RU" dirty="0"/>
              <a:t>» для клиента и «</a:t>
            </a:r>
            <a:r>
              <a:rPr lang="en-US" dirty="0"/>
              <a:t>Go</a:t>
            </a:r>
            <a:r>
              <a:rPr lang="ru-RU" dirty="0"/>
              <a:t>» для сервера, с использованием </a:t>
            </a:r>
            <a:r>
              <a:rPr lang="en-US" dirty="0"/>
              <a:t>python </a:t>
            </a:r>
            <a:r>
              <a:rPr lang="ru-RU" dirty="0"/>
              <a:t>библиотек «</a:t>
            </a:r>
            <a:r>
              <a:rPr lang="en-US" dirty="0" err="1"/>
              <a:t>pygame</a:t>
            </a:r>
            <a:r>
              <a:rPr lang="ru-RU" dirty="0"/>
              <a:t>», «</a:t>
            </a:r>
            <a:r>
              <a:rPr lang="en-US" dirty="0" err="1"/>
              <a:t>websocket</a:t>
            </a:r>
            <a:r>
              <a:rPr lang="ru-RU" dirty="0"/>
              <a:t>», «</a:t>
            </a:r>
            <a:r>
              <a:rPr lang="en-US" dirty="0" err="1"/>
              <a:t>pytmx</a:t>
            </a:r>
            <a:r>
              <a:rPr lang="ru-RU" dirty="0"/>
              <a:t>»; а также с использованием пользовательской библиотеки </a:t>
            </a:r>
            <a:r>
              <a:rPr lang="en-US" dirty="0" err="1"/>
              <a:t>golang</a:t>
            </a:r>
            <a:r>
              <a:rPr lang="ru-RU" dirty="0"/>
              <a:t> «</a:t>
            </a:r>
            <a:r>
              <a:rPr lang="en-US" dirty="0"/>
              <a:t>gorilla</a:t>
            </a:r>
            <a:r>
              <a:rPr lang="ru-RU" dirty="0"/>
              <a:t>/</a:t>
            </a:r>
            <a:r>
              <a:rPr lang="en-US" dirty="0" err="1"/>
              <a:t>websocket</a:t>
            </a:r>
            <a:r>
              <a:rPr lang="ru-RU" dirty="0"/>
              <a:t>» для соединения сервера с клиентами.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772577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22483B-90ED-08EE-53AA-77FC3BC13A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Новизна, цель и задачи проектной работы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EED16F-6FF6-8A2E-3D3E-D5FA9E81F5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/>
              <a:t>Цель</a:t>
            </a:r>
            <a:r>
              <a:rPr lang="en-US" dirty="0"/>
              <a:t>: </a:t>
            </a:r>
            <a:r>
              <a:rPr lang="ru-RU" dirty="0"/>
              <a:t>Разработать прототип многопользовательской онлайн 2D-игры на «</a:t>
            </a:r>
            <a:r>
              <a:rPr lang="en-US" dirty="0"/>
              <a:t>python</a:t>
            </a:r>
            <a:r>
              <a:rPr lang="ru-RU" dirty="0"/>
              <a:t>» с клиент-серверной архитектурой, демонстрирующий реализацию сетевого взаимодействия в реальном времени, управление игровым состоянием на сервере и отзывчивый графический интерфейс в клиенте.</a:t>
            </a:r>
          </a:p>
          <a:p>
            <a:r>
              <a:rPr lang="ru-RU" b="1" dirty="0"/>
              <a:t>Задачи</a:t>
            </a:r>
            <a:r>
              <a:rPr lang="en-US" dirty="0"/>
              <a:t>: 	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Изучение теоретической литературы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Разработка алгоритма работы игры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Написание кода игры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Создание </a:t>
            </a:r>
            <a:r>
              <a:rPr lang="en-US" sz="1800" dirty="0" err="1"/>
              <a:t>tmx</a:t>
            </a:r>
            <a:r>
              <a:rPr lang="en-US" sz="1800" dirty="0"/>
              <a:t>-</a:t>
            </a:r>
            <a:r>
              <a:rPr lang="ru-RU" sz="1800" dirty="0"/>
              <a:t>карты</a:t>
            </a:r>
          </a:p>
          <a:p>
            <a:pPr lvl="1">
              <a:buFont typeface="+mj-lt"/>
              <a:buAutoNum type="arabicPeriod"/>
            </a:pPr>
            <a:r>
              <a:rPr lang="ru-RU" sz="1800" dirty="0"/>
              <a:t>Генерация картинок в нейронных сетях</a:t>
            </a:r>
            <a:endParaRPr lang="en-US" sz="1800" dirty="0"/>
          </a:p>
          <a:p>
            <a:r>
              <a:rPr lang="ru-RU" b="1" dirty="0"/>
              <a:t>Новизна</a:t>
            </a:r>
            <a:r>
              <a:rPr lang="en-US" dirty="0"/>
              <a:t>: </a:t>
            </a:r>
            <a:r>
              <a:rPr lang="ru-RU" dirty="0"/>
              <a:t>Новизна проектной работы заключается в исследовании и реализации клиент-серверной архитектуры, где высокопроизводительный сервер реального времени, написанный на языке «Go» (язык, известный своей эффективностью в конкурентных сетевых задачах) взаимодействует с быстрым для прототипирования клиентом на языке «python».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0887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8F6B72-DCCD-127E-AEA9-E5C500756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Обзор существующих аналогов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CBAEA73-2223-9A1A-037D-2D480CAED4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0236" y="2267554"/>
            <a:ext cx="6152456" cy="3636511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Один из аналогов нашего проекта – игра «Hammerwatch» </a:t>
            </a:r>
            <a:r>
              <a:rPr lang="en-US" dirty="0"/>
              <a:t>[1]</a:t>
            </a:r>
            <a:r>
              <a:rPr lang="ru-RU" dirty="0"/>
              <a:t>. Она представляет собой динамичный экшен в жанре экшен-РПГ. Игрокам предстоит исследовать мрачные подземелья, состоящие из множества комнат и уровней. В процессе прохождения игроки собирают золото и ресурсы, которые можно тратить на улучшение характеристик персонажа, покупку зелий и специальных предметов</a:t>
            </a:r>
            <a:r>
              <a:rPr lang="en-US" dirty="0"/>
              <a:t>. </a:t>
            </a:r>
            <a:r>
              <a:rPr lang="ru-RU" dirty="0"/>
              <a:t>Особенностью Hammerwatch является кооперативный мультиплеер, поддерживающий до четырех игроков одновременно.  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1028" name="Picture 4" descr="Picture background">
            <a:extLst>
              <a:ext uri="{FF2B5EF4-FFF2-40B4-BE49-F238E27FC236}">
                <a16:creationId xmlns:a16="http://schemas.microsoft.com/office/drawing/2014/main" id="{267EEC6E-C190-7FB7-F7C2-645E62C03B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4064" y="2353902"/>
            <a:ext cx="4900942" cy="275678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  <a:extLst/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452AC3-0AC7-799B-B753-30F18139BA4C}"/>
              </a:ext>
            </a:extLst>
          </p:cNvPr>
          <p:cNvSpPr txBox="1"/>
          <p:nvPr/>
        </p:nvSpPr>
        <p:spPr>
          <a:xfrm>
            <a:off x="6784064" y="5251009"/>
            <a:ext cx="5157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Рис. 1 – интерфейс игры «Hammerwatch»</a:t>
            </a:r>
          </a:p>
        </p:txBody>
      </p:sp>
    </p:spTree>
    <p:extLst>
      <p:ext uri="{BB962C8B-B14F-4D97-AF65-F5344CB8AC3E}">
        <p14:creationId xmlns:p14="http://schemas.microsoft.com/office/powerpoint/2010/main" val="39015777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075DEC-C3FF-C591-1D21-92511A67B4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Алгоритм работы игры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0583E016-C172-4FFE-48C6-5021A9E089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7736" y="2412623"/>
            <a:ext cx="5676523" cy="363696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DD2238B-A120-6A76-5795-6B597B4DFD96}"/>
              </a:ext>
            </a:extLst>
          </p:cNvPr>
          <p:cNvSpPr txBox="1"/>
          <p:nvPr/>
        </p:nvSpPr>
        <p:spPr>
          <a:xfrm>
            <a:off x="3447860" y="6024297"/>
            <a:ext cx="56765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Рис. 2 – блок-схема алгоритма работы игры</a:t>
            </a:r>
          </a:p>
        </p:txBody>
      </p:sp>
    </p:spTree>
    <p:extLst>
      <p:ext uri="{BB962C8B-B14F-4D97-AF65-F5344CB8AC3E}">
        <p14:creationId xmlns:p14="http://schemas.microsoft.com/office/powerpoint/2010/main" val="1737970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A1C431-2A08-0ED6-C820-4FFD72DBF5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Принцип работы кода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3AD20B9-209A-94A7-C2ED-3D83D47B64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282" y="2380548"/>
            <a:ext cx="4623726" cy="3636511"/>
          </a:xfrm>
        </p:spPr>
        <p:txBody>
          <a:bodyPr>
            <a:normAutofit fontScale="92500" lnSpcReduction="20000"/>
          </a:bodyPr>
          <a:lstStyle/>
          <a:p>
            <a:r>
              <a:rPr lang="ru-RU" dirty="0"/>
              <a:t>Програмный код разработан согласно принципам объектно-ориентированного программирования и событийно-ориентированного программирования. В коде игры представлена клиент-серверная архитектура. </a:t>
            </a:r>
          </a:p>
          <a:p>
            <a:r>
              <a:rPr lang="ru-RU" dirty="0"/>
              <a:t>Основной цикл игры предполагает постоянную проверку и обработку событий, таких как нажатие клавиш, клики мыши. Также игровой цикл предполагает обновление состояний, таких как обновление анимации, отправка данных на сервер.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7779" y="2074983"/>
            <a:ext cx="3254219" cy="346416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31191" y="5520186"/>
            <a:ext cx="35442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 smtClean="0"/>
              <a:t>Рис.3 – пример обработки нажатия клавиш «</a:t>
            </a:r>
            <a:r>
              <a:rPr lang="en-US" sz="1500" dirty="0" smtClean="0"/>
              <a:t>t</a:t>
            </a:r>
            <a:r>
              <a:rPr lang="ru-RU" sz="1500" dirty="0" smtClean="0"/>
              <a:t>» и «</a:t>
            </a:r>
            <a:r>
              <a:rPr lang="en-US" sz="1500" dirty="0" smtClean="0"/>
              <a:t>Esc</a:t>
            </a:r>
            <a:r>
              <a:rPr lang="ru-RU" sz="1500" dirty="0" smtClean="0"/>
              <a:t>»</a:t>
            </a:r>
            <a:endParaRPr lang="ru-RU" sz="1500" dirty="0"/>
          </a:p>
        </p:txBody>
      </p:sp>
    </p:spTree>
    <p:extLst>
      <p:ext uri="{BB962C8B-B14F-4D97-AF65-F5344CB8AC3E}">
        <p14:creationId xmlns:p14="http://schemas.microsoft.com/office/powerpoint/2010/main" val="41141590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Структура игры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91174" y="2354172"/>
            <a:ext cx="6083250" cy="3636511"/>
          </a:xfrm>
        </p:spPr>
        <p:txBody>
          <a:bodyPr>
            <a:normAutofit fontScale="92500" lnSpcReduction="20000"/>
          </a:bodyPr>
          <a:lstStyle/>
          <a:p>
            <a:r>
              <a:rPr lang="ru-RU" dirty="0" smtClean="0"/>
              <a:t>На</a:t>
            </a:r>
            <a:r>
              <a:rPr lang="ru-RU" dirty="0"/>
              <a:t>ш</a:t>
            </a:r>
            <a:r>
              <a:rPr lang="ru-RU" dirty="0" smtClean="0"/>
              <a:t> </a:t>
            </a:r>
            <a:r>
              <a:rPr lang="ru-RU" dirty="0"/>
              <a:t>проект состоит из трех основных компонентов: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Лаунчер. </a:t>
            </a:r>
          </a:p>
          <a:p>
            <a:pPr lvl="1">
              <a:buFont typeface="+mj-lt"/>
              <a:buAutoNum type="arabicPeriod"/>
            </a:pPr>
            <a:r>
              <a:rPr lang="ru-RU" dirty="0"/>
              <a:t>Клиент. </a:t>
            </a:r>
          </a:p>
          <a:p>
            <a:pPr lvl="1">
              <a:buFont typeface="+mj-lt"/>
              <a:buAutoNum type="arabicPeriod"/>
            </a:pPr>
            <a:r>
              <a:rPr lang="ru-RU" dirty="0" smtClean="0"/>
              <a:t>Сервер</a:t>
            </a:r>
            <a:endParaRPr lang="en-US" dirty="0" smtClean="0"/>
          </a:p>
          <a:p>
            <a:pPr lvl="1">
              <a:buFont typeface="+mj-lt"/>
              <a:buAutoNum type="arabicPeriod"/>
            </a:pPr>
            <a:endParaRPr lang="ru-RU" dirty="0"/>
          </a:p>
          <a:p>
            <a:r>
              <a:rPr lang="ru-RU" b="1" dirty="0"/>
              <a:t>Лаунчер</a:t>
            </a:r>
            <a:r>
              <a:rPr lang="ru-RU" dirty="0"/>
              <a:t> – это отдельное приложение, которое включает в себя регистрацию и вход с проверкой в базе данных, автоматическую проверку при каждом запуске, загрузку новых версий с прогресс-баром и отображением статуса, безопасную передачу токена авторизации в игру и запуск игры с правильными параметрами подключения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7375" y="2269706"/>
            <a:ext cx="3373979" cy="325266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862646" y="5621351"/>
            <a:ext cx="26116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Рис.3 – </a:t>
            </a:r>
            <a:r>
              <a:rPr lang="ru-RU" dirty="0" err="1" smtClean="0"/>
              <a:t>лаунчер</a:t>
            </a:r>
            <a:r>
              <a:rPr lang="ru-RU" dirty="0" smtClean="0"/>
              <a:t> игры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89827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6C278F-24C3-D867-6C62-A096BEFE4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Мир и графика игры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B7E29F-D22B-35C5-D196-0471367036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4557" y="2629692"/>
            <a:ext cx="5627355" cy="3636511"/>
          </a:xfrm>
        </p:spPr>
        <p:txBody>
          <a:bodyPr/>
          <a:lstStyle/>
          <a:p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Сюжет игры повествует об одиноком путнике, который путешествует по миру, помогает страждущим и защищает слабых</a:t>
            </a:r>
            <a:r>
              <a:rPr lang="en-US" sz="1500" dirty="0">
                <a:latin typeface="Century Gothic (Основной текст)"/>
                <a:ea typeface="Times New Roman"/>
                <a:cs typeface="Times New Roman"/>
              </a:rPr>
              <a:t>,</a:t>
            </a:r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 сражаясь с различным злом, которое наполняет темные леса и пещеры.</a:t>
            </a:r>
            <a:endParaRPr lang="en-US" sz="1500" dirty="0">
              <a:latin typeface="Century Gothic (Основной текст)"/>
              <a:ea typeface="Times New Roman"/>
              <a:cs typeface="Times New Roman"/>
            </a:endParaRPr>
          </a:p>
          <a:p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Графика игры подготовлена с помощью нейросетевых сервисов для генерации изображений, таких как </a:t>
            </a:r>
            <a:r>
              <a:rPr lang="ru-RU" sz="1500" dirty="0" err="1">
                <a:latin typeface="Century Gothic (Основной текст)"/>
                <a:ea typeface="Times New Roman"/>
                <a:cs typeface="Times New Roman"/>
              </a:rPr>
              <a:t>Leonardo.Ai</a:t>
            </a:r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 [</a:t>
            </a:r>
            <a:r>
              <a:rPr lang="en-US" sz="1500" dirty="0">
                <a:latin typeface="Century Gothic (Основной текст)"/>
                <a:ea typeface="Times New Roman"/>
                <a:cs typeface="Times New Roman"/>
              </a:rPr>
              <a:t>2</a:t>
            </a:r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] и Fusion </a:t>
            </a:r>
            <a:r>
              <a:rPr lang="ru-RU" sz="1500" dirty="0" err="1">
                <a:latin typeface="Century Gothic (Основной текст)"/>
                <a:ea typeface="Times New Roman"/>
                <a:cs typeface="Times New Roman"/>
              </a:rPr>
              <a:t>Brain</a:t>
            </a:r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. Такой подход к созданию изображений позволил сильно упростить процесс разработки и отказаться от необходимости в отдельном художнике.</a:t>
            </a:r>
            <a:endParaRPr lang="en-US" sz="1500" dirty="0">
              <a:latin typeface="Century Gothic (Основной текст)"/>
              <a:ea typeface="Times New Roman"/>
              <a:cs typeface="Times New Roman"/>
            </a:endParaRPr>
          </a:p>
          <a:p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Также в игре представлена </a:t>
            </a:r>
            <a:r>
              <a:rPr lang="en-US" sz="1500" dirty="0" err="1">
                <a:latin typeface="Century Gothic (Основной текст)"/>
                <a:ea typeface="Times New Roman"/>
                <a:cs typeface="Times New Roman"/>
              </a:rPr>
              <a:t>tmx</a:t>
            </a:r>
            <a:r>
              <a:rPr lang="en-US" sz="1500" dirty="0">
                <a:latin typeface="Century Gothic (Основной текст)"/>
                <a:ea typeface="Times New Roman"/>
                <a:cs typeface="Times New Roman"/>
              </a:rPr>
              <a:t>-</a:t>
            </a:r>
            <a:r>
              <a:rPr lang="ru-RU" sz="1500" dirty="0">
                <a:latin typeface="Century Gothic (Основной текст)"/>
                <a:ea typeface="Times New Roman"/>
                <a:cs typeface="Times New Roman"/>
              </a:rPr>
              <a:t>карта, созданная нами.</a:t>
            </a:r>
            <a:endParaRPr lang="en-US" sz="1500" dirty="0">
              <a:latin typeface="Century Gothic (Основной текст)"/>
              <a:ea typeface="Times New Roman"/>
              <a:cs typeface="Times New Roman"/>
            </a:endParaRPr>
          </a:p>
          <a:p>
            <a:endParaRPr lang="ru-RU" sz="1500" dirty="0">
              <a:latin typeface="Century Gothic (Основной текст)"/>
            </a:endParaRPr>
          </a:p>
          <a:p>
            <a:endParaRPr lang="ru-RU" sz="1400" dirty="0"/>
          </a:p>
          <a:p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5FFB90-B0D4-94D0-013C-57DE63A7F4C9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386" y="2043662"/>
            <a:ext cx="3618367" cy="177149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33F92BC-1032-E3DE-CF54-9711BC97C94E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3385" y="4447947"/>
            <a:ext cx="3618367" cy="173052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31C2ACA-932C-B2A5-1ACF-1FF61CFCCF64}"/>
              </a:ext>
            </a:extLst>
          </p:cNvPr>
          <p:cNvSpPr txBox="1"/>
          <p:nvPr/>
        </p:nvSpPr>
        <p:spPr>
          <a:xfrm>
            <a:off x="8193386" y="3815154"/>
            <a:ext cx="361836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Рис.3 – пейзаж из мира игры </a:t>
            </a:r>
          </a:p>
          <a:p>
            <a:r>
              <a:rPr lang="ru-RU" sz="1500" dirty="0"/>
              <a:t>в светлой теме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00692AF-E09E-0139-7CF2-92985F342FC2}"/>
              </a:ext>
            </a:extLst>
          </p:cNvPr>
          <p:cNvSpPr txBox="1"/>
          <p:nvPr/>
        </p:nvSpPr>
        <p:spPr>
          <a:xfrm>
            <a:off x="8203072" y="6140644"/>
            <a:ext cx="36086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500" dirty="0"/>
              <a:t>Рис.3 – пейзаж из мира игры </a:t>
            </a:r>
          </a:p>
          <a:p>
            <a:r>
              <a:rPr lang="ru-RU" sz="1500" dirty="0"/>
              <a:t>в тёмной теме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878528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06401E-A251-F1E3-CF12-471095BD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C2F877-A019-C601-8155-8423107E1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>
                <a:latin typeface="Century Gothic (Основной текст)"/>
              </a:rPr>
              <a:t>В результате проделанной работы была разработана полноценная 2</a:t>
            </a:r>
            <a:r>
              <a:rPr lang="en-US" dirty="0">
                <a:latin typeface="Century Gothic (Основной текст)"/>
              </a:rPr>
              <a:t>d</a:t>
            </a:r>
            <a:r>
              <a:rPr lang="ru-RU" dirty="0">
                <a:latin typeface="Century Gothic (Основной текст)"/>
              </a:rPr>
              <a:t> онлайн игра с системой битв, сюжетом и изображениями. Также в игре можно открыть настройки как в меню, так и во время игры. </a:t>
            </a:r>
          </a:p>
          <a:p>
            <a:r>
              <a:rPr lang="ru-RU" dirty="0">
                <a:latin typeface="Century Gothic (Основной текст)"/>
                <a:ea typeface="Times New Roman"/>
                <a:cs typeface="Times New Roman" panose="02020603050405020304" pitchFamily="18" charset="0"/>
              </a:rPr>
              <a:t>Нами были получены знания по игровой разработке в небольшой команде, а так же мы получили большой опыт в работе с нейросетями.</a:t>
            </a:r>
            <a:r>
              <a:rPr lang="en-US" dirty="0">
                <a:latin typeface="Century Gothic (Основной текст)"/>
                <a:ea typeface="Times New Roman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Century Gothic (Основной текст)"/>
                <a:ea typeface="Times New Roman"/>
                <a:cs typeface="Times New Roman" panose="02020603050405020304" pitchFamily="18" charset="0"/>
              </a:rPr>
              <a:t>Полученные навыки программирования позволят нам дальше развивать свой продукт и создавать новые увлекательные игры.</a:t>
            </a:r>
          </a:p>
          <a:p>
            <a:endParaRPr lang="ru-RU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50975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DB0DD21-71E9-BE84-8E00-9CE16289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Дальнейшее развитие проекта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7BF2EF1-F377-C4F2-FC96-4B0A712EE7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359" y="1706240"/>
            <a:ext cx="10554574" cy="3636511"/>
          </a:xfrm>
        </p:spPr>
        <p:txBody>
          <a:bodyPr/>
          <a:lstStyle/>
          <a:p>
            <a:r>
              <a:rPr lang="ru-RU" dirty="0"/>
              <a:t>В будущем планируется продолжить разработку нашей игры. Также планируется добавить систему миссий и заданий, выполняя которые игрок будет получать игровую валюту, которую сможет обменять на улучшенную броню или оружие.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33178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67A4D73-96C1-92C1-C364-962CC71115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Список литературы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E72383-4E70-4F03-5CF2-9772EEB50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  <a:buFont typeface="+mj-lt"/>
              <a:buAutoNum type="arabicPeriod"/>
            </a:pPr>
            <a:r>
              <a:rPr lang="ru-RU" dirty="0"/>
              <a:t>Hammerwatch 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– URL:</a:t>
            </a:r>
            <a:r>
              <a:rPr lang="en-US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en-US" dirty="0">
                <a:latin typeface="Times New Roman"/>
                <a:ea typeface="Times New Roman"/>
                <a:cs typeface="Times New Roman"/>
                <a:hlinkClick r:id="rId2"/>
              </a:rPr>
              <a:t>https://hammerwatch.com</a:t>
            </a:r>
            <a:endParaRPr lang="en-US" dirty="0">
              <a:latin typeface="Times New Roman"/>
              <a:ea typeface="Times New Roman"/>
              <a:cs typeface="Times New Roman"/>
            </a:endParaRPr>
          </a:p>
          <a:p>
            <a:pPr lvl="0" algn="just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</a:rPr>
              <a:t>AI Image </a:t>
            </a:r>
            <a:r>
              <a:rPr lang="ru-RU" dirty="0" err="1">
                <a:latin typeface="Times New Roman"/>
                <a:ea typeface="Times New Roman"/>
                <a:cs typeface="Times New Roman"/>
              </a:rPr>
              <a:t>Generator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 – URL: </a:t>
            </a:r>
            <a:r>
              <a:rPr lang="ru-RU" u="sng" dirty="0">
                <a:latin typeface="Times New Roman"/>
                <a:ea typeface="Times New Roman"/>
                <a:cs typeface="Times New Roman"/>
                <a:hlinkClick r:id="rId3"/>
              </a:rPr>
              <a:t>https://leonardo.ai</a:t>
            </a:r>
            <a:endParaRPr lang="en-US" u="sng" dirty="0">
              <a:latin typeface="Times New Roman"/>
              <a:ea typeface="Times New Roman"/>
              <a:cs typeface="Times New Roman"/>
            </a:endParaRPr>
          </a:p>
          <a:p>
            <a:pPr lvl="0" algn="just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  <a:buFont typeface="+mj-lt"/>
              <a:buAutoNum type="arabicPeriod"/>
            </a:pPr>
            <a:r>
              <a:rPr lang="ru-RU" dirty="0" err="1">
                <a:latin typeface="Times New Roman"/>
                <a:ea typeface="Times New Roman"/>
                <a:cs typeface="Times New Roman"/>
              </a:rPr>
              <a:t>Pygame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 </a:t>
            </a:r>
            <a:r>
              <a:rPr lang="ru-RU" dirty="0" err="1">
                <a:latin typeface="Times New Roman"/>
                <a:ea typeface="Times New Roman"/>
                <a:cs typeface="Times New Roman"/>
              </a:rPr>
              <a:t>Github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 – URL: </a:t>
            </a:r>
            <a:r>
              <a:rPr lang="ru-RU" u="sng" dirty="0">
                <a:latin typeface="Times New Roman"/>
                <a:ea typeface="Times New Roman"/>
                <a:cs typeface="Times New Roman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https://github.com/pygame/pygame</a:t>
            </a:r>
            <a:r>
              <a:rPr lang="ru-RU" dirty="0">
                <a:latin typeface="Times New Roman"/>
                <a:ea typeface="Times New Roman"/>
                <a:cs typeface="Times New Roman"/>
              </a:rPr>
              <a:t> </a:t>
            </a:r>
            <a:endParaRPr lang="en-US" dirty="0">
              <a:latin typeface="Times New Roman"/>
              <a:ea typeface="Times New Roman"/>
              <a:cs typeface="Times New Roman"/>
            </a:endParaRPr>
          </a:p>
          <a:p>
            <a:pPr lvl="0" algn="just">
              <a:lnSpc>
                <a:spcPts val="2145"/>
              </a:lnSpc>
              <a:spcBef>
                <a:spcPts val="1030"/>
              </a:spcBef>
              <a:spcAft>
                <a:spcPts val="1030"/>
              </a:spcAft>
              <a:buFont typeface="+mj-lt"/>
              <a:buAutoNum type="arabicPeriod"/>
            </a:pPr>
            <a:r>
              <a:rPr lang="ru-RU" dirty="0">
                <a:latin typeface="Times New Roman"/>
                <a:ea typeface="Times New Roman"/>
                <a:cs typeface="Times New Roman"/>
              </a:rPr>
              <a:t>Капитализация игровых издателей и компаний – URL: </a:t>
            </a:r>
            <a:r>
              <a:rPr lang="ru-RU" u="sng" dirty="0">
                <a:latin typeface="Times New Roman"/>
                <a:ea typeface="Times New Roman"/>
                <a:cs typeface="Times New Roman"/>
              </a:rPr>
              <a:t>https://companiesmarketcap.com/video-games/largest-video-game-companies-by-market-cap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2117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ECEAB89-91F4-8CDF-990B-80055D724C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6A517FD8-6CED-5639-9DDD-6F23C85BBF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4341" y="2264713"/>
            <a:ext cx="4365575" cy="4346677"/>
          </a:xfrm>
        </p:spPr>
      </p:pic>
    </p:spTree>
    <p:extLst>
      <p:ext uri="{BB962C8B-B14F-4D97-AF65-F5344CB8AC3E}">
        <p14:creationId xmlns:p14="http://schemas.microsoft.com/office/powerpoint/2010/main" val="71350393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Цитаты">
  <a:themeElements>
    <a:clrScheme name="Цитаты">
      <a:dk1>
        <a:sysClr val="windowText" lastClr="000000"/>
      </a:dk1>
      <a:lt1>
        <a:sysClr val="window" lastClr="FFFFFF"/>
      </a:lt1>
      <a:dk2>
        <a:srgbClr val="212121"/>
      </a:dk2>
      <a:lt2>
        <a:srgbClr val="636363"/>
      </a:lt2>
      <a:accent1>
        <a:srgbClr val="00C6BB"/>
      </a:accent1>
      <a:accent2>
        <a:srgbClr val="6FEBA0"/>
      </a:accent2>
      <a:accent3>
        <a:srgbClr val="B6DF5E"/>
      </a:accent3>
      <a:accent4>
        <a:srgbClr val="EFB251"/>
      </a:accent4>
      <a:accent5>
        <a:srgbClr val="EF755F"/>
      </a:accent5>
      <a:accent6>
        <a:srgbClr val="ED515C"/>
      </a:accent6>
      <a:hlink>
        <a:srgbClr val="8F8F8F"/>
      </a:hlink>
      <a:folHlink>
        <a:srgbClr val="A5A5A5"/>
      </a:folHlink>
    </a:clrScheme>
    <a:fontScheme name="Цитаты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Цитаты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lumMod val="105000"/>
              </a:schemeClr>
            </a:gs>
            <a:gs pos="100000">
              <a:schemeClr val="phClr">
                <a:tint val="9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8000"/>
                <a:lumMod val="102000"/>
              </a:schemeClr>
              <a:schemeClr val="phClr">
                <a:shade val="98000"/>
                <a:lumMod val="98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innerShdw blurRad="63500" dist="25400" dir="13500000">
              <a:srgbClr val="000000">
                <a:alpha val="75000"/>
              </a:srgbClr>
            </a:inn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</a:schemeClr>
            </a:gs>
            <a:gs pos="100000">
              <a:schemeClr val="phClr">
                <a:tint val="84000"/>
                <a:shade val="84000"/>
                <a:lumMod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90000"/>
                <a:satMod val="120000"/>
                <a:lumMod val="90000"/>
              </a:schemeClr>
            </a:gs>
            <a:gs pos="100000">
              <a:schemeClr val="phClr"/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Quotable" id="{39EC5628-30ED-4578-ACD8-9820EDB8E15A}" vid="{6F3559E9-1A4C-49D8-94D4-F41003531C4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Цитаты</Template>
  <TotalTime>80</TotalTime>
  <Words>770</Words>
  <Application>Microsoft Office PowerPoint</Application>
  <PresentationFormat>Широкоэкранный</PresentationFormat>
  <Paragraphs>57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Century Gothic</vt:lpstr>
      <vt:lpstr>Century Gothic (Основной текст)</vt:lpstr>
      <vt:lpstr>Times New Roman</vt:lpstr>
      <vt:lpstr>Wingdings 2</vt:lpstr>
      <vt:lpstr>Цитаты</vt:lpstr>
      <vt:lpstr>Проектная работа  «ТЕКСТОВЫЙ КВЕСТ НА ЯЗЫКЕ ПРОГРАММИРОВАНИЯ PYTHON С ИСПОЛЬЗОВАНИЕМ ВНЕШНЕЙ БИБЛИОТЕКИ PYGAME» </vt:lpstr>
      <vt:lpstr>Введение и актуальность проектной работы</vt:lpstr>
      <vt:lpstr>Новизна, цель и задачи проектной работы</vt:lpstr>
      <vt:lpstr>Обзор существующих аналогов</vt:lpstr>
      <vt:lpstr>Алгоритм работы игры</vt:lpstr>
      <vt:lpstr>Принцип работы кода</vt:lpstr>
      <vt:lpstr>Структура игры</vt:lpstr>
      <vt:lpstr>Мир и графика игры</vt:lpstr>
      <vt:lpstr>Заключение</vt:lpstr>
      <vt:lpstr>Дальнейшее развитие проекта</vt:lpstr>
      <vt:lpstr>Список литературы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Проектная работа  «ТЕКСТОВЫЙ КВЕСТ НА ЯЗЫКЕ ПРОГРАММИРОВАНИЯ PYTHON С ИСПОЛЬЗОВАНИЕМ ВНЕШНЕЙ БИБЛИОТЕКИ PYGAME» </dc:title>
  <dc:creator>bobtre FreeZoN</dc:creator>
  <cp:lastModifiedBy>student</cp:lastModifiedBy>
  <cp:revision>5</cp:revision>
  <dcterms:created xsi:type="dcterms:W3CDTF">2026-01-10T12:43:09Z</dcterms:created>
  <dcterms:modified xsi:type="dcterms:W3CDTF">2026-01-19T05:57:54Z</dcterms:modified>
</cp:coreProperties>
</file>