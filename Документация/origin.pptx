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8" r:id="rId1"/>
  </p:sldMasterIdLst>
  <p:notesMasterIdLst>
    <p:notesMasterId r:id="rId15"/>
  </p:notesMasterIdLst>
  <p:sldIdLst>
    <p:sldId id="256" r:id="rId2"/>
    <p:sldId id="257" r:id="rId3"/>
    <p:sldId id="258" r:id="rId4"/>
    <p:sldId id="268" r:id="rId5"/>
    <p:sldId id="259" r:id="rId6"/>
    <p:sldId id="260" r:id="rId7"/>
    <p:sldId id="261" r:id="rId8"/>
    <p:sldId id="267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AEE8C5-8279-4FDE-9148-3B4506582D84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71110-C687-4687-BF9B-535760648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483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71F59-3127-4757-A63A-AAB453B67D83}" type="datetime1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086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19F9-E340-4266-92B8-0820BB4259F5}" type="datetime1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4022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39EB-F31E-489C-A97F-AD7A520CADD5}" type="datetime1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380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89BA9-C26A-4551-80E0-738107A0FE50}" type="datetime1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995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EC683-CB3C-459D-988E-2160472BA884}" type="datetime1">
              <a:rPr lang="ru-RU" smtClean="0"/>
              <a:t>09.02.2026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356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DD521-DB26-41F6-8483-AB657A6A1D0C}" type="datetime1">
              <a:rPr lang="ru-RU" smtClean="0"/>
              <a:t>09.02.2026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437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69DD3-FE8B-4E72-8CFE-001708E2FC7C}" type="datetime1">
              <a:rPr lang="ru-RU" smtClean="0"/>
              <a:t>09.02.2026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0937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A1B83-B00F-4940-948F-88023B3496AC}" type="datetime1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4604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23778F88-6CFF-4336-92E6-6A88814EC16D}" type="datetime1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027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2CCC3-2E42-4729-9532-228BA3D72016}" type="datetime1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7697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E8B74-8830-4018-A6A2-B009605D144E}" type="datetime1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165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12CA4-A079-4CC4-AF6B-41932A245552}" type="datetime1">
              <a:rPr lang="ru-RU" smtClean="0"/>
              <a:t>09.02.2026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3519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B7C4D-59D2-4729-9DB2-888AB4EC15B6}" type="datetime1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2729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F9B7E-56FA-4D28-B297-B10CA72DE6E6}" type="datetime1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55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EFF1D0BE-CB2B-4848-82CD-7E9512932073}" type="datetime1">
              <a:rPr lang="ru-RU" smtClean="0"/>
              <a:t>09.02.2026</a:t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3027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game.org/" TargetMode="External"/><Relationship Id="rId2" Type="http://schemas.openxmlformats.org/officeDocument/2006/relationships/hyperlink" Target="https://leonardo.ai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ga.chat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CFD07B-4D48-29D2-4701-3D7BA34CB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06087" y="548322"/>
            <a:ext cx="12192000" cy="2971051"/>
          </a:xfrm>
        </p:spPr>
        <p:txBody>
          <a:bodyPr/>
          <a:lstStyle/>
          <a:p>
            <a:pPr algn="ctr">
              <a:lnSpc>
                <a:spcPct val="150000"/>
              </a:lnSpc>
            </a:pPr>
            <a:r>
              <a:rPr lang="ru-RU" sz="2000" dirty="0">
                <a:ea typeface="Times New Roman"/>
                <a:cs typeface="Times New Roman"/>
              </a:rPr>
              <a:t/>
            </a:r>
            <a:br>
              <a:rPr lang="ru-RU" sz="2000" dirty="0">
                <a:ea typeface="Times New Roman"/>
                <a:cs typeface="Times New Roman"/>
              </a:rPr>
            </a:br>
            <a:r>
              <a:rPr lang="ru-RU" sz="2000" dirty="0">
                <a:ea typeface="Times New Roman"/>
                <a:cs typeface="Times New Roman"/>
              </a:rPr>
              <a:t>«МНОГОПОЛЬЗОВАТЕЛЬСКАЯ </a:t>
            </a:r>
            <a:r>
              <a:rPr lang="en-US" sz="2000" dirty="0">
                <a:ea typeface="Times New Roman"/>
                <a:cs typeface="Times New Roman"/>
              </a:rPr>
              <a:t>2D</a:t>
            </a:r>
            <a:r>
              <a:rPr lang="ru-RU" sz="2000" dirty="0">
                <a:ea typeface="Times New Roman"/>
                <a:cs typeface="Times New Roman"/>
              </a:rPr>
              <a:t> ОНЛАЙН ИГРА </a:t>
            </a:r>
            <a:br>
              <a:rPr lang="ru-RU" sz="2000" dirty="0">
                <a:ea typeface="Times New Roman"/>
                <a:cs typeface="Times New Roman"/>
              </a:rPr>
            </a:br>
            <a:r>
              <a:rPr lang="ru-RU" sz="2000" dirty="0">
                <a:ea typeface="Times New Roman"/>
                <a:cs typeface="Times New Roman"/>
              </a:rPr>
              <a:t>С КЛИЕНТ-СЕРВЕРНОЙ АРХИТЕКТУРОЙ»</a:t>
            </a:r>
            <a:r>
              <a:rPr lang="ru-RU" spc="-10" dirty="0">
                <a:solidFill>
                  <a:schemeClr val="tx1"/>
                </a:solidFill>
                <a:ea typeface="Times New Roman"/>
                <a:cs typeface="Times New Roman"/>
              </a:rPr>
              <a:t/>
            </a:r>
            <a:br>
              <a:rPr lang="ru-RU" spc="-10" dirty="0">
                <a:solidFill>
                  <a:schemeClr val="tx1"/>
                </a:solidFill>
                <a:ea typeface="Times New Roman"/>
                <a:cs typeface="Times New Roman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234D390-397F-875E-3B5A-9EB59DD0E6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73666" y="4813430"/>
            <a:ext cx="6818334" cy="225542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ru-RU" sz="1600" dirty="0">
                <a:ea typeface="Calibri" panose="020F0502020204030204" pitchFamily="34" charset="0"/>
                <a:cs typeface="Calibri" panose="020F0502020204030204" pitchFamily="34" charset="0"/>
              </a:rPr>
              <a:t>Участники: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600" dirty="0">
                <a:ea typeface="Calibri" panose="020F0502020204030204" pitchFamily="34" charset="0"/>
                <a:cs typeface="Calibri" panose="020F0502020204030204" pitchFamily="34" charset="0"/>
              </a:rPr>
              <a:t>Ученик 8 «П» класса ГБОУ Школа 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№2065</a:t>
            </a:r>
            <a:r>
              <a:rPr lang="en-US" sz="1600" spc="-10" dirty="0"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Леонов Ярослав Александрович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600" dirty="0">
                <a:ea typeface="Calibri" panose="020F0502020204030204" pitchFamily="34" charset="0"/>
                <a:cs typeface="Calibri" panose="020F0502020204030204" pitchFamily="34" charset="0"/>
              </a:rPr>
              <a:t>Ученик 8 «Б» класса ГБОУ Школа 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№ 2065 </a:t>
            </a:r>
            <a:r>
              <a:rPr lang="ru-RU" sz="1600" spc="-10" dirty="0" err="1">
                <a:ea typeface="Calibri" panose="020F0502020204030204" pitchFamily="34" charset="0"/>
                <a:cs typeface="Calibri" panose="020F0502020204030204" pitchFamily="34" charset="0"/>
              </a:rPr>
              <a:t>Мацнев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 Илья Антонович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Руководители: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Педагог ГБОУ Школа № 2065 Кирсанов Максим Григорьевич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Педагог ГБОУ Школа № 2065 </a:t>
            </a:r>
            <a:r>
              <a:rPr lang="ru-RU" sz="1600" spc="-10" dirty="0" err="1">
                <a:ea typeface="Calibri" panose="020F0502020204030204" pitchFamily="34" charset="0"/>
                <a:cs typeface="Calibri" panose="020F0502020204030204" pitchFamily="34" charset="0"/>
              </a:rPr>
              <a:t>Амбеталь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 Андрей Игоревич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E34853-C0EC-A13F-1086-8B2BA0B5751A}"/>
              </a:ext>
            </a:extLst>
          </p:cNvPr>
          <p:cNvSpPr txBox="1"/>
          <p:nvPr/>
        </p:nvSpPr>
        <p:spPr>
          <a:xfrm>
            <a:off x="2247103" y="548322"/>
            <a:ext cx="74856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spc="-25" dirty="0">
                <a:latin typeface="+mj-lt"/>
                <a:ea typeface="Times New Roman"/>
                <a:cs typeface="Times New Roman"/>
              </a:rPr>
              <a:t>Государственное</a:t>
            </a:r>
            <a:r>
              <a:rPr lang="ru-RU" sz="2000" b="1" spc="-8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+mj-lt"/>
                <a:ea typeface="Times New Roman"/>
                <a:cs typeface="Times New Roman"/>
              </a:rPr>
              <a:t>бюджетное</a:t>
            </a:r>
            <a:r>
              <a:rPr lang="ru-RU" sz="2000" b="1" spc="-4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+mj-lt"/>
                <a:ea typeface="Times New Roman"/>
                <a:cs typeface="Times New Roman"/>
              </a:rPr>
              <a:t>общеобразовательное</a:t>
            </a:r>
            <a:r>
              <a:rPr lang="ru-RU" sz="2000" b="1" spc="-65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+mj-lt"/>
                <a:ea typeface="Times New Roman"/>
                <a:cs typeface="Times New Roman"/>
              </a:rPr>
              <a:t>учреждение города</a:t>
            </a:r>
            <a:r>
              <a:rPr lang="ru-RU" sz="2000" b="1" spc="-6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+mj-lt"/>
                <a:ea typeface="Times New Roman"/>
                <a:cs typeface="Times New Roman"/>
              </a:rPr>
              <a:t>Москвы</a:t>
            </a:r>
            <a:r>
              <a:rPr lang="ru-RU" sz="2000" b="1" spc="-7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+mj-lt"/>
                <a:ea typeface="Times New Roman"/>
                <a:cs typeface="Times New Roman"/>
              </a:rPr>
              <a:t>«Школа</a:t>
            </a:r>
            <a:r>
              <a:rPr lang="ru-RU" sz="2000" b="1" spc="-7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+mj-lt"/>
                <a:ea typeface="Times New Roman"/>
                <a:cs typeface="Times New Roman"/>
              </a:rPr>
              <a:t>№</a:t>
            </a:r>
            <a:r>
              <a:rPr lang="ru-RU" sz="2000" b="1" spc="-5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+mj-lt"/>
                <a:ea typeface="Times New Roman"/>
                <a:cs typeface="Times New Roman"/>
              </a:rPr>
              <a:t>2065»</a:t>
            </a:r>
          </a:p>
          <a:p>
            <a:pPr algn="ctr"/>
            <a:endParaRPr lang="ru-RU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2029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33AD8-B839-68D4-4E33-017D9F57D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Введение и актуальность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A00C50-7C60-CC11-FD53-2EFA43BD2D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999" y="2317066"/>
            <a:ext cx="11207999" cy="3985259"/>
          </a:xfrm>
        </p:spPr>
        <p:txBody>
          <a:bodyPr>
            <a:noAutofit/>
          </a:bodyPr>
          <a:lstStyle/>
          <a:p>
            <a:pPr algn="just">
              <a:lnSpc>
                <a:spcPct val="130000"/>
              </a:lnSpc>
            </a:pPr>
            <a:r>
              <a:rPr lang="ru-RU" sz="2000" dirty="0"/>
              <a:t>Мы живем в </a:t>
            </a:r>
            <a:r>
              <a:rPr lang="en-US" sz="2000" dirty="0"/>
              <a:t>XXI</a:t>
            </a:r>
            <a:r>
              <a:rPr lang="ru-RU" sz="2000" dirty="0"/>
              <a:t> веке – веке компьютерных технологий. Сейчас востребованными сферами являются разработчики приложений и игр. Одним из простых и современных языков является </a:t>
            </a:r>
            <a:r>
              <a:rPr lang="en-US" sz="2000" dirty="0"/>
              <a:t>Python</a:t>
            </a:r>
            <a:r>
              <a:rPr lang="ru-RU" sz="2000" dirty="0"/>
              <a:t>.</a:t>
            </a:r>
          </a:p>
          <a:p>
            <a:pPr algn="just">
              <a:lnSpc>
                <a:spcPct val="130000"/>
              </a:lnSpc>
            </a:pPr>
            <a:r>
              <a:rPr lang="ru-RU" sz="2000" dirty="0"/>
              <a:t>Язык «</a:t>
            </a:r>
            <a:r>
              <a:rPr lang="en-US" sz="2000" dirty="0"/>
              <a:t>Go</a:t>
            </a:r>
            <a:r>
              <a:rPr lang="ru-RU" sz="2000" dirty="0"/>
              <a:t>» известен своей простотой, высокой производительностью и эффективностью, что делает его идеальным для создания веб-сервисов, серверных приложений и облачной инфраструктуры.</a:t>
            </a:r>
          </a:p>
          <a:p>
            <a:pPr algn="just">
              <a:lnSpc>
                <a:spcPct val="130000"/>
              </a:lnSpc>
            </a:pPr>
            <a:r>
              <a:rPr lang="ru-RU" sz="2000" dirty="0"/>
              <a:t>Мы разработали игру «</a:t>
            </a:r>
            <a:r>
              <a:rPr lang="en-US" sz="2000" dirty="0"/>
              <a:t>League of adventures</a:t>
            </a:r>
            <a:r>
              <a:rPr lang="ru-RU" sz="2000" dirty="0"/>
              <a:t>» на языках «</a:t>
            </a:r>
            <a:r>
              <a:rPr lang="en-US" sz="2000" dirty="0"/>
              <a:t>python</a:t>
            </a:r>
            <a:r>
              <a:rPr lang="ru-RU" sz="2000" dirty="0"/>
              <a:t>» для клиента и «</a:t>
            </a:r>
            <a:r>
              <a:rPr lang="en-US" sz="2000" dirty="0"/>
              <a:t>Go</a:t>
            </a:r>
            <a:r>
              <a:rPr lang="ru-RU" sz="2000" dirty="0"/>
              <a:t>» для сервера, с использованием </a:t>
            </a:r>
            <a:r>
              <a:rPr lang="en-US" sz="2000" dirty="0"/>
              <a:t>python </a:t>
            </a:r>
            <a:r>
              <a:rPr lang="ru-RU" sz="2000" dirty="0"/>
              <a:t>библиотек «</a:t>
            </a:r>
            <a:r>
              <a:rPr lang="en-US" sz="2000" dirty="0" err="1"/>
              <a:t>pygame</a:t>
            </a:r>
            <a:r>
              <a:rPr lang="ru-RU" sz="2000" dirty="0"/>
              <a:t>», «</a:t>
            </a:r>
            <a:r>
              <a:rPr lang="en-US" sz="2000" dirty="0" err="1"/>
              <a:t>websocket</a:t>
            </a:r>
            <a:r>
              <a:rPr lang="ru-RU" sz="2000" dirty="0"/>
              <a:t>», «</a:t>
            </a:r>
            <a:r>
              <a:rPr lang="en-US" sz="2000" dirty="0" err="1"/>
              <a:t>pytmx</a:t>
            </a:r>
            <a:r>
              <a:rPr lang="ru-RU" sz="2000" dirty="0"/>
              <a:t>»; а также с использованием пользовательской библиотеки </a:t>
            </a:r>
            <a:r>
              <a:rPr lang="en-US" sz="2000" dirty="0" err="1"/>
              <a:t>golang</a:t>
            </a:r>
            <a:r>
              <a:rPr lang="ru-RU" sz="2000" dirty="0"/>
              <a:t> «</a:t>
            </a:r>
            <a:r>
              <a:rPr lang="en-US" sz="2000" dirty="0"/>
              <a:t>gorilla</a:t>
            </a:r>
            <a:r>
              <a:rPr lang="ru-RU" sz="2000" dirty="0"/>
              <a:t>/</a:t>
            </a:r>
            <a:r>
              <a:rPr lang="en-US" sz="2000" dirty="0" err="1"/>
              <a:t>websocket</a:t>
            </a:r>
            <a:r>
              <a:rPr lang="ru-RU" sz="2000" dirty="0"/>
              <a:t>» для соединения сервера с клиентами</a:t>
            </a:r>
            <a:r>
              <a:rPr lang="ru-RU" sz="2000" dirty="0" smtClean="0"/>
              <a:t>.</a:t>
            </a:r>
            <a:endParaRPr lang="ru-RU" sz="20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7257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22483B-90ED-08EE-53AA-77FC3BC1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Новизна, цель и задачи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EED16F-6FF6-8A2E-3D3E-D5FA9E81F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54265" y="2323578"/>
            <a:ext cx="11521843" cy="4697260"/>
          </a:xfrm>
        </p:spPr>
        <p:txBody>
          <a:bodyPr>
            <a:noAutofit/>
          </a:bodyPr>
          <a:lstStyle/>
          <a:p>
            <a:pPr algn="just">
              <a:spcBef>
                <a:spcPts val="0"/>
              </a:spcBef>
              <a:spcAft>
                <a:spcPts val="300"/>
              </a:spcAft>
            </a:pPr>
            <a:r>
              <a:rPr lang="ru-RU" sz="2000" b="1" dirty="0"/>
              <a:t>Цель</a:t>
            </a:r>
            <a:r>
              <a:rPr lang="en-US" sz="2000" dirty="0"/>
              <a:t>: </a:t>
            </a:r>
            <a:r>
              <a:rPr lang="ru-RU" sz="2000" dirty="0"/>
              <a:t>Разработать прототип многопользовательской онлайн 2D-игры на «</a:t>
            </a:r>
            <a:r>
              <a:rPr lang="en-US" sz="2000" dirty="0"/>
              <a:t>python</a:t>
            </a:r>
            <a:r>
              <a:rPr lang="ru-RU" sz="2000" dirty="0"/>
              <a:t>» с клиент-серверной архитектурой, демонстрирующий реализацию сетевого взаимодействия в реальном времени, управление игровым состоянием на сервере и отзывчивый графический интерфейс в клиенте.</a:t>
            </a:r>
          </a:p>
          <a:p>
            <a:r>
              <a:rPr lang="ru-RU" sz="2000" b="1" dirty="0"/>
              <a:t>Задачи</a:t>
            </a:r>
            <a:r>
              <a:rPr lang="en-US" sz="2000" dirty="0"/>
              <a:t>: 	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Изучение теоретической литературы;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Разработка алгоритма работы игры;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Написание кода игры;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Создание </a:t>
            </a:r>
            <a:r>
              <a:rPr lang="en-US" sz="2000" dirty="0" err="1"/>
              <a:t>tmx</a:t>
            </a:r>
            <a:r>
              <a:rPr lang="en-US" sz="2000" dirty="0"/>
              <a:t>-</a:t>
            </a:r>
            <a:r>
              <a:rPr lang="ru-RU" sz="2000" dirty="0"/>
              <a:t>карты;</a:t>
            </a:r>
          </a:p>
          <a:p>
            <a:pPr lvl="1">
              <a:spcBef>
                <a:spcPts val="0"/>
              </a:spcBef>
              <a:buFont typeface="+mj-lt"/>
              <a:buAutoNum type="arabicPeriod"/>
            </a:pPr>
            <a:r>
              <a:rPr lang="ru-RU" sz="2000" dirty="0"/>
              <a:t>Генерация картинок в нейронных сетях.</a:t>
            </a:r>
            <a:endParaRPr lang="en-US" sz="2000" dirty="0"/>
          </a:p>
          <a:p>
            <a:pPr algn="just">
              <a:spcBef>
                <a:spcPts val="0"/>
              </a:spcBef>
            </a:pPr>
            <a:r>
              <a:rPr lang="ru-RU" sz="2000" b="1" dirty="0"/>
              <a:t>Новизна</a:t>
            </a:r>
            <a:r>
              <a:rPr lang="en-US" sz="2000" dirty="0"/>
              <a:t>: </a:t>
            </a:r>
            <a:r>
              <a:rPr lang="ru-RU" sz="2000" dirty="0"/>
              <a:t>Новизна проектной работы заключается в исследовании и реализации клиент-серверной архитектуры, где высокопроизводительный сервер реального времени, написанный на языке «Go» взаимодействует с быстрым для прототипирования клиентом на языке «python».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0887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22483B-90ED-08EE-53AA-77FC3BC1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Новизна, цель и задачи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EED16F-6FF6-8A2E-3D3E-D5FA9E81F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54265" y="2323578"/>
            <a:ext cx="11521843" cy="4697260"/>
          </a:xfrm>
        </p:spPr>
        <p:txBody>
          <a:bodyPr>
            <a:noAutofit/>
          </a:bodyPr>
          <a:lstStyle/>
          <a:p>
            <a:pPr algn="just">
              <a:spcBef>
                <a:spcPts val="0"/>
              </a:spcBef>
              <a:spcAft>
                <a:spcPts val="300"/>
              </a:spcAft>
            </a:pPr>
            <a:r>
              <a:rPr lang="ru-RU" sz="2000" b="1" dirty="0"/>
              <a:t>Цель</a:t>
            </a:r>
            <a:r>
              <a:rPr lang="en-US" sz="2000" dirty="0"/>
              <a:t>: </a:t>
            </a:r>
            <a:r>
              <a:rPr lang="ru-RU" sz="2000" dirty="0"/>
              <a:t>Разработать прототип многопользовательской онлайн 2D-игры на «</a:t>
            </a:r>
            <a:r>
              <a:rPr lang="en-US" sz="2000" dirty="0"/>
              <a:t>python</a:t>
            </a:r>
            <a:r>
              <a:rPr lang="ru-RU" sz="2000" dirty="0"/>
              <a:t>» с клиент-серверной архитектурой, демонстрирующий реализацию сетевого взаимодействия в реальном времени, управление игровым состоянием на сервере и отзывчивый графический интерфейс в клиенте.</a:t>
            </a:r>
          </a:p>
          <a:p>
            <a:r>
              <a:rPr lang="ru-RU" sz="2000" b="1" dirty="0"/>
              <a:t>Задачи</a:t>
            </a:r>
            <a:r>
              <a:rPr lang="en-US" sz="2000" dirty="0"/>
              <a:t>: 	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Изучение теоретической литературы;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Разработка алгоритма работы игры;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Написание кода игры;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Создание </a:t>
            </a:r>
            <a:r>
              <a:rPr lang="en-US" sz="2000" dirty="0" err="1"/>
              <a:t>tmx</a:t>
            </a:r>
            <a:r>
              <a:rPr lang="en-US" sz="2000" dirty="0"/>
              <a:t>-</a:t>
            </a:r>
            <a:r>
              <a:rPr lang="ru-RU" sz="2000" dirty="0"/>
              <a:t>карты;</a:t>
            </a:r>
          </a:p>
          <a:p>
            <a:pPr lvl="1">
              <a:spcBef>
                <a:spcPts val="0"/>
              </a:spcBef>
              <a:buFont typeface="+mj-lt"/>
              <a:buAutoNum type="arabicPeriod"/>
            </a:pPr>
            <a:r>
              <a:rPr lang="ru-RU" sz="2000" dirty="0"/>
              <a:t>Генерация картинок в нейронных сетях.</a:t>
            </a:r>
            <a:endParaRPr lang="en-US" sz="2000" dirty="0"/>
          </a:p>
          <a:p>
            <a:pPr algn="just">
              <a:spcBef>
                <a:spcPts val="0"/>
              </a:spcBef>
            </a:pPr>
            <a:r>
              <a:rPr lang="ru-RU" sz="2000" b="1" dirty="0"/>
              <a:t>Новизна</a:t>
            </a:r>
            <a:r>
              <a:rPr lang="en-US" sz="2000" dirty="0"/>
              <a:t>: </a:t>
            </a:r>
            <a:r>
              <a:rPr lang="ru-RU" sz="2000" dirty="0"/>
              <a:t>Новизна проектной работы заключается в исследовании и реализации клиент-серверной архитектуры, где высокопроизводительный сервер реального времени, написанный на языке «Go» взаимодействует с быстрым для прототипирования клиентом на языке «python».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4141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8F6B72-DCCD-127E-AEA9-E5C500756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Обзор существующих аналогов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BAEA73-2223-9A1A-037D-2D480CAED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236" y="2267554"/>
            <a:ext cx="6152456" cy="422719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000" dirty="0"/>
              <a:t>Один из аналогов нашего проекта – игра «Hammerwatch» </a:t>
            </a:r>
            <a:r>
              <a:rPr lang="en-US" sz="2000" dirty="0"/>
              <a:t>[1]</a:t>
            </a:r>
            <a:r>
              <a:rPr lang="ru-RU" sz="2000" dirty="0"/>
              <a:t>. Она представляет собой динамичный экшен в жанре экшен-РПГ. Игрокам предстоит исследовать мрачные подземелья, состоящие из множества комнат и уровней. В процессе прохождения игроки собирают золото и ресурсы, которые можно тратить на улучшение характеристик персонажа, покупку зелий и специальных предметов</a:t>
            </a:r>
            <a:r>
              <a:rPr lang="en-US" sz="2000" dirty="0"/>
              <a:t>. </a:t>
            </a:r>
            <a:r>
              <a:rPr lang="ru-RU" sz="2000" dirty="0"/>
              <a:t>Особенностью Hammerwatch является кооперативный мультиплеер, поддерживающий до четырех игроков одновременно.  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267EEC6E-C190-7FB7-F7C2-645E62C03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4064" y="2353902"/>
            <a:ext cx="4900942" cy="27567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452AC3-0AC7-799B-B753-30F18139BA4C}"/>
              </a:ext>
            </a:extLst>
          </p:cNvPr>
          <p:cNvSpPr txBox="1"/>
          <p:nvPr/>
        </p:nvSpPr>
        <p:spPr>
          <a:xfrm>
            <a:off x="6784064" y="5251009"/>
            <a:ext cx="48974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/>
              <a:t>Рисунок 1 – интерфейс игры «Hammerwatch»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1577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075DEC-C3FF-C591-1D21-92511A67B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Алгоритм работы игры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0583E016-C172-4FFE-48C6-5021A9E089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7736" y="2412623"/>
            <a:ext cx="5676523" cy="363696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D2238B-A120-6A76-5795-6B597B4DFD96}"/>
              </a:ext>
            </a:extLst>
          </p:cNvPr>
          <p:cNvSpPr txBox="1"/>
          <p:nvPr/>
        </p:nvSpPr>
        <p:spPr>
          <a:xfrm>
            <a:off x="3206664" y="6024297"/>
            <a:ext cx="5843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2 – блок-схема алгоритма работы игры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7970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A1C431-2A08-0ED6-C820-4FFD72DBF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Принцип работы кода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AD20B9-209A-94A7-C2ED-3D83D47B64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0729" y="2380548"/>
            <a:ext cx="6200383" cy="4139249"/>
          </a:xfrm>
        </p:spPr>
        <p:txBody>
          <a:bodyPr>
            <a:noAutofit/>
          </a:bodyPr>
          <a:lstStyle/>
          <a:p>
            <a:pPr algn="just"/>
            <a:r>
              <a:rPr lang="ru-RU" sz="2000" dirty="0"/>
              <a:t>Програмный код разработан согласно принципам объектно-ориентированного программирования и событийно-ориентированного программирования. В коде игры представлена клиент-серверная архитектура. </a:t>
            </a:r>
          </a:p>
          <a:p>
            <a:pPr algn="just"/>
            <a:r>
              <a:rPr lang="ru-RU" sz="2000" dirty="0"/>
              <a:t>Основной цикл игры предполагает постоянную проверку и обработку событий, таких как нажатие клавиш, клики мыши. Также игровой цикл предполагает обновление состояний, таких как обновление анимации, отправка данных на сервер.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2505" y="2162472"/>
            <a:ext cx="3572822" cy="38033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12505" y="5965799"/>
            <a:ext cx="39694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3 – пример обработки нажатия клавиш «</a:t>
            </a:r>
            <a:r>
              <a:rPr lang="en-US" sz="1600" dirty="0"/>
              <a:t>t</a:t>
            </a:r>
            <a:r>
              <a:rPr lang="ru-RU" sz="1600" dirty="0"/>
              <a:t>» и «</a:t>
            </a:r>
            <a:r>
              <a:rPr lang="en-US" sz="1600" dirty="0"/>
              <a:t>Esc</a:t>
            </a:r>
            <a:r>
              <a:rPr lang="ru-RU" sz="1600" dirty="0"/>
              <a:t>»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41590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Структура игры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91173" y="2354172"/>
            <a:ext cx="7362229" cy="4109258"/>
          </a:xfrm>
        </p:spPr>
        <p:txBody>
          <a:bodyPr>
            <a:noAutofit/>
          </a:bodyPr>
          <a:lstStyle/>
          <a:p>
            <a:pPr algn="just"/>
            <a:r>
              <a:rPr lang="ru-RU" sz="2000" dirty="0"/>
              <a:t>Наш проект состоит из трех основных компонентов:</a:t>
            </a:r>
          </a:p>
          <a:p>
            <a:pPr lvl="1" algn="just">
              <a:buFont typeface="+mj-lt"/>
              <a:buAutoNum type="arabicPeriod"/>
            </a:pPr>
            <a:r>
              <a:rPr lang="ru-RU" sz="2000" dirty="0" err="1"/>
              <a:t>Лаунчер</a:t>
            </a:r>
            <a:r>
              <a:rPr lang="ru-RU" sz="2000" dirty="0"/>
              <a:t>;</a:t>
            </a:r>
          </a:p>
          <a:p>
            <a:pPr lvl="1" algn="just">
              <a:buFont typeface="+mj-lt"/>
              <a:buAutoNum type="arabicPeriod"/>
            </a:pPr>
            <a:r>
              <a:rPr lang="ru-RU" sz="2000" dirty="0"/>
              <a:t>Клиент;</a:t>
            </a:r>
          </a:p>
          <a:p>
            <a:pPr lvl="1" algn="just">
              <a:buFont typeface="+mj-lt"/>
              <a:buAutoNum type="arabicPeriod"/>
            </a:pPr>
            <a:r>
              <a:rPr lang="ru-RU" sz="2000" dirty="0"/>
              <a:t>Сервер.</a:t>
            </a:r>
          </a:p>
          <a:p>
            <a:pPr algn="just"/>
            <a:r>
              <a:rPr lang="ru-RU" sz="2000" b="1" dirty="0"/>
              <a:t>Лаунчер</a:t>
            </a:r>
            <a:r>
              <a:rPr lang="ru-RU" sz="2000" dirty="0"/>
              <a:t> – это отдельное приложение, которое включает в себя регистрацию и вход с проверкой в базе данных, автоматическую проверку при каждом запуске, загрузку новых версий с прогресс-баром и отображением статуса, безопасную передачу токена авторизации в игру и запуск игры с правильными параметрами подключения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840" y="2520227"/>
            <a:ext cx="3373979" cy="32526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61841" y="5861791"/>
            <a:ext cx="35201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4 – </a:t>
            </a:r>
            <a:r>
              <a:rPr lang="ru-RU" sz="1600" dirty="0" err="1"/>
              <a:t>лаунчер</a:t>
            </a:r>
            <a:r>
              <a:rPr lang="ru-RU" sz="1600" dirty="0"/>
              <a:t> игры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9827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6C278F-24C3-D867-6C62-A096BEFE4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Мир и графика игры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6B7E29F-D22B-35C5-D196-04713670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557" y="2843408"/>
            <a:ext cx="7481580" cy="3870543"/>
          </a:xfrm>
        </p:spPr>
        <p:txBody>
          <a:bodyPr>
            <a:noAutofit/>
          </a:bodyPr>
          <a:lstStyle/>
          <a:p>
            <a:pPr algn="just"/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Сюжет игры повествует об одиноком путнике, который путешествует по миру, помогает страждущим и защищает слабых</a:t>
            </a:r>
            <a:r>
              <a:rPr lang="en-US" sz="2000" dirty="0">
                <a:latin typeface="Century Gothic (Основной текст)"/>
                <a:ea typeface="Times New Roman"/>
                <a:cs typeface="Times New Roman"/>
              </a:rPr>
              <a:t>,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 сражаясь с различным злом, которое наполняет темные леса и пещеры.</a:t>
            </a:r>
            <a:endParaRPr lang="en-US" sz="2000" dirty="0">
              <a:latin typeface="Century Gothic (Основной текст)"/>
              <a:ea typeface="Times New Roman"/>
              <a:cs typeface="Times New Roman"/>
            </a:endParaRPr>
          </a:p>
          <a:p>
            <a:pPr algn="just"/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Графика игры подготовлена с помощью нейросетевых сервисов для генерации изображений, таких как </a:t>
            </a:r>
            <a:r>
              <a:rPr lang="ru-RU" sz="2000" dirty="0" err="1">
                <a:latin typeface="Century Gothic (Основной текст)"/>
                <a:ea typeface="Times New Roman"/>
                <a:cs typeface="Times New Roman"/>
              </a:rPr>
              <a:t>Leonardo.Ai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 [</a:t>
            </a:r>
            <a:r>
              <a:rPr lang="en-US" sz="2000" dirty="0">
                <a:latin typeface="Century Gothic (Основной текст)"/>
                <a:ea typeface="Times New Roman"/>
                <a:cs typeface="Times New Roman"/>
              </a:rPr>
              <a:t>2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] и Fusion </a:t>
            </a:r>
            <a:r>
              <a:rPr lang="ru-RU" sz="2000" dirty="0" err="1">
                <a:latin typeface="Century Gothic (Основной текст)"/>
                <a:ea typeface="Times New Roman"/>
                <a:cs typeface="Times New Roman"/>
              </a:rPr>
              <a:t>Brain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. Такой подход к созданию изображений позволил сильно упростить процесс разработки и отказаться от необходимости в отдельном художнике.</a:t>
            </a:r>
            <a:endParaRPr lang="en-US" sz="2000" dirty="0">
              <a:latin typeface="Century Gothic (Основной текст)"/>
              <a:ea typeface="Times New Roman"/>
              <a:cs typeface="Times New Roman"/>
            </a:endParaRPr>
          </a:p>
          <a:p>
            <a:pPr algn="just"/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Также в игре представлена </a:t>
            </a:r>
            <a:r>
              <a:rPr lang="en-US" sz="2000" dirty="0" err="1">
                <a:latin typeface="Century Gothic (Основной текст)"/>
                <a:ea typeface="Times New Roman"/>
                <a:cs typeface="Times New Roman"/>
              </a:rPr>
              <a:t>tmx</a:t>
            </a:r>
            <a:r>
              <a:rPr lang="en-US" sz="2000" dirty="0">
                <a:latin typeface="Century Gothic (Основной текст)"/>
                <a:ea typeface="Times New Roman"/>
                <a:cs typeface="Times New Roman"/>
              </a:rPr>
              <a:t>-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карта, созданная нами.</a:t>
            </a:r>
            <a:endParaRPr lang="ru-RU" sz="2000" dirty="0">
              <a:latin typeface="Century Gothic (Основной текст)"/>
            </a:endParaRPr>
          </a:p>
          <a:p>
            <a:pPr algn="just"/>
            <a:endParaRPr lang="ru-RU" sz="2000" dirty="0"/>
          </a:p>
          <a:p>
            <a:pPr algn="just"/>
            <a:endParaRPr lang="ru-RU" sz="2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5FFB90-B0D4-94D0-013C-57DE63A7F4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6" y="2043662"/>
            <a:ext cx="3618367" cy="177149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33F92BC-1032-E3DE-CF54-9711BC97C94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5" y="4447947"/>
            <a:ext cx="3618367" cy="17305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1C2ACA-932C-B2A5-1ACF-1FF61CFCCF64}"/>
              </a:ext>
            </a:extLst>
          </p:cNvPr>
          <p:cNvSpPr txBox="1"/>
          <p:nvPr/>
        </p:nvSpPr>
        <p:spPr>
          <a:xfrm>
            <a:off x="8129392" y="3815154"/>
            <a:ext cx="39143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5 – пейзаж из мира игры в светлой теме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0692AF-E09E-0139-7CF2-92985F342FC2}"/>
              </a:ext>
            </a:extLst>
          </p:cNvPr>
          <p:cNvSpPr txBox="1"/>
          <p:nvPr/>
        </p:nvSpPr>
        <p:spPr>
          <a:xfrm>
            <a:off x="8129392" y="6140644"/>
            <a:ext cx="36823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6 – пейзаж из мира игры </a:t>
            </a:r>
          </a:p>
          <a:p>
            <a:r>
              <a:rPr lang="ru-RU" sz="1600" dirty="0"/>
              <a:t>в тёмной теме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10749597" y="6140644"/>
            <a:ext cx="1062155" cy="490599"/>
          </a:xfrm>
        </p:spPr>
        <p:txBody>
          <a:bodyPr/>
          <a:lstStyle/>
          <a:p>
            <a:fld id="{CE008903-557F-423E-A0C0-FB243518669E}" type="slidenum">
              <a:rPr lang="ru-RU" smtClean="0"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78528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06401E-A251-F1E3-CF12-471095BD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C2F877-A019-C601-8155-8423107E1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512" y="2198318"/>
            <a:ext cx="7229261" cy="4020855"/>
          </a:xfrm>
        </p:spPr>
        <p:txBody>
          <a:bodyPr>
            <a:normAutofit/>
          </a:bodyPr>
          <a:lstStyle/>
          <a:p>
            <a:pPr algn="just"/>
            <a:r>
              <a:rPr lang="ru-RU" sz="2000" dirty="0">
                <a:latin typeface="Century Gothic (Основной текст)"/>
              </a:rPr>
              <a:t>В результате проделанной работы была разработана полноценная 2</a:t>
            </a:r>
            <a:r>
              <a:rPr lang="en-US" sz="2000" dirty="0">
                <a:latin typeface="Century Gothic (Основной текст)"/>
              </a:rPr>
              <a:t>d</a:t>
            </a:r>
            <a:r>
              <a:rPr lang="ru-RU" sz="2000" dirty="0">
                <a:latin typeface="Century Gothic (Основной текст)"/>
              </a:rPr>
              <a:t> онлайн игра с системой битв, сюжетом и изображениями. Также в игре можно открыть настройки как в меню, так и во время игры. </a:t>
            </a:r>
          </a:p>
          <a:p>
            <a:pPr algn="just"/>
            <a:r>
              <a:rPr lang="ru-RU" sz="20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Нами были получены знания по игровой разработке в небольшой команде, а так же мы получили большой опыт в работе с нейросетями.</a:t>
            </a:r>
            <a:r>
              <a:rPr lang="en-US" sz="20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Полученные навыки программирования позволят нам дальше развивать свой продукт и создавать новые увлекательные игры.</a:t>
            </a:r>
            <a:endParaRPr lang="en-US" sz="2000" dirty="0">
              <a:latin typeface="Century Gothic (Основной текст)"/>
              <a:ea typeface="Times New Roman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5066" y="2479852"/>
            <a:ext cx="2173265" cy="21732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10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EB7E5A-0F0F-421F-959F-0F3545411928}"/>
              </a:ext>
            </a:extLst>
          </p:cNvPr>
          <p:cNvSpPr txBox="1"/>
          <p:nvPr/>
        </p:nvSpPr>
        <p:spPr>
          <a:xfrm>
            <a:off x="8386175" y="4856303"/>
            <a:ext cx="2542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7 – </a:t>
            </a:r>
            <a:r>
              <a:rPr lang="en-US" sz="16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QR-</a:t>
            </a:r>
            <a:r>
              <a:rPr lang="ru-RU" sz="16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код на репозиторий </a:t>
            </a:r>
            <a:r>
              <a:rPr lang="en-US" sz="1600" dirty="0" err="1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Github</a:t>
            </a:r>
            <a:r>
              <a:rPr lang="ru-RU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5097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B0DD21-71E9-BE84-8E00-9CE16289D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Дальнейшее развитие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BF2EF1-F377-C4F2-FC96-4B0A712EE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833" y="2125862"/>
            <a:ext cx="10554574" cy="363651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000" dirty="0"/>
              <a:t>В будущем планируем продолжить разработку нашей игры. Также планируется добавить систему миссий и заданий, выполняя которые игрок будет получать игровую валюту, которую сможет обменять на улучшенную броню или оружие.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3178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7A4D73-96C1-92C1-C364-962CC7111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E72383-4E70-4F03-5CF2-9772EEB50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ru-RU" sz="2000" b="1" dirty="0"/>
              <a:t>Leonardo.ai</a:t>
            </a:r>
            <a:r>
              <a:rPr lang="ru-RU" sz="2000" dirty="0"/>
              <a:t>: нейросеть для генерации изображений искусственным интеллектом. – URL: </a:t>
            </a:r>
            <a:r>
              <a:rPr lang="ru-RU" sz="2000" u="sng" dirty="0">
                <a:hlinkClick r:id="rId2"/>
              </a:rPr>
              <a:t>https://leonardo.ai/</a:t>
            </a:r>
            <a:r>
              <a:rPr lang="ru-RU" sz="2000" dirty="0"/>
              <a:t> (дата обращения:</a:t>
            </a:r>
            <a:r>
              <a:rPr lang="ru-RU" sz="2000" b="1" dirty="0"/>
              <a:t> 23.01.2026</a:t>
            </a:r>
            <a:r>
              <a:rPr lang="ru-RU" sz="2000" dirty="0"/>
              <a:t>).</a:t>
            </a:r>
          </a:p>
          <a:p>
            <a:pPr lvl="0"/>
            <a:r>
              <a:rPr lang="ru-RU" sz="2000" b="1" dirty="0" err="1"/>
              <a:t>Pygame</a:t>
            </a:r>
            <a:r>
              <a:rPr lang="ru-RU" sz="2000" dirty="0"/>
              <a:t>: набор модулей Python для программирования видеоигр: офиц. сайт. – URL: </a:t>
            </a:r>
            <a:r>
              <a:rPr lang="ru-RU" sz="2000" u="sng" dirty="0">
                <a:hlinkClick r:id="rId3"/>
              </a:rPr>
              <a:t>https://www.pygame.org/</a:t>
            </a:r>
            <a:r>
              <a:rPr lang="ru-RU" sz="2000" dirty="0"/>
              <a:t> (дата обращения: </a:t>
            </a:r>
            <a:r>
              <a:rPr lang="ru-RU" sz="2000" b="1" dirty="0"/>
              <a:t>30.09.2025</a:t>
            </a:r>
            <a:r>
              <a:rPr lang="ru-RU" sz="2000" dirty="0"/>
              <a:t>).</a:t>
            </a:r>
          </a:p>
          <a:p>
            <a:pPr lvl="0"/>
            <a:r>
              <a:rPr lang="ru-RU" sz="2000" b="1" dirty="0" err="1"/>
              <a:t>GigaChat</a:t>
            </a:r>
            <a:r>
              <a:rPr lang="ru-RU" sz="2000" dirty="0"/>
              <a:t>: мультимодальная нейросеть от </a:t>
            </a:r>
            <a:r>
              <a:rPr lang="ru-RU" sz="2000" dirty="0" err="1"/>
              <a:t>Сбера</a:t>
            </a:r>
            <a:r>
              <a:rPr lang="ru-RU" sz="2000" dirty="0"/>
              <a:t>: офиц. сайт. – URL:  </a:t>
            </a:r>
            <a:r>
              <a:rPr lang="ru-RU" sz="2000" u="sng" dirty="0">
                <a:hlinkClick r:id="rId4"/>
              </a:rPr>
              <a:t>https://giga.chat/</a:t>
            </a:r>
            <a:r>
              <a:rPr lang="ru-RU" sz="2000" dirty="0"/>
              <a:t> (дата обращения: </a:t>
            </a:r>
            <a:r>
              <a:rPr lang="ru-RU" sz="2000" b="1" dirty="0"/>
              <a:t>01.02.2026</a:t>
            </a:r>
            <a:r>
              <a:rPr lang="ru-RU" sz="2000" dirty="0"/>
              <a:t>).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21176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EAB89-91F4-8CDF-990B-80055D72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Спасибо за внимание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6A517FD8-6CED-5639-9DDD-6F23C85BBF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4341" y="2264713"/>
            <a:ext cx="4365575" cy="4346677"/>
          </a:xfr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5039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Цитаты">
  <a:themeElements>
    <a:clrScheme name="Цитаты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Цитаты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Цитаты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Цитаты</Template>
  <TotalTime>165</TotalTime>
  <Words>938</Words>
  <Application>Microsoft Office PowerPoint</Application>
  <PresentationFormat>Широкоэкранный</PresentationFormat>
  <Paragraphs>76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Calibri</vt:lpstr>
      <vt:lpstr>Century Gothic</vt:lpstr>
      <vt:lpstr>Century Gothic (Основной текст)</vt:lpstr>
      <vt:lpstr>Times New Roman</vt:lpstr>
      <vt:lpstr>Wingdings 2</vt:lpstr>
      <vt:lpstr>Цитаты</vt:lpstr>
      <vt:lpstr> «МНОГОПОЛЬЗОВАТЕЛЬСКАЯ 2D ОНЛАЙН ИГРА  С КЛИЕНТ-СЕРВЕРНОЙ АРХИТЕКТУРОЙ» </vt:lpstr>
      <vt:lpstr>Введение и актуальность проектной работы</vt:lpstr>
      <vt:lpstr>Новизна, цель и задачи проектной работы</vt:lpstr>
      <vt:lpstr>Новизна, цель и задачи проектной работы</vt:lpstr>
      <vt:lpstr>Обзор существующих аналогов</vt:lpstr>
      <vt:lpstr>Алгоритм работы игры</vt:lpstr>
      <vt:lpstr>Принцип работы кода</vt:lpstr>
      <vt:lpstr>Структура игры</vt:lpstr>
      <vt:lpstr>Мир и графика игры</vt:lpstr>
      <vt:lpstr>Заключение</vt:lpstr>
      <vt:lpstr>Дальнейшее развитие проекта</vt:lpstr>
      <vt:lpstr>Список литературы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Проектная работа  «ТЕКСТОВЫЙ КВЕСТ НА ЯЗЫКЕ ПРОГРАММИРОВАНИЯ PYTHON С ИСПОЛЬЗОВАНИЕМ ВНЕШНЕЙ БИБЛИОТЕКИ PYGAME»</dc:title>
  <dc:creator>bobtre FreeZoN</dc:creator>
  <cp:lastModifiedBy>student</cp:lastModifiedBy>
  <cp:revision>19</cp:revision>
  <dcterms:created xsi:type="dcterms:W3CDTF">2026-01-10T12:43:09Z</dcterms:created>
  <dcterms:modified xsi:type="dcterms:W3CDTF">2026-02-09T08:58:56Z</dcterms:modified>
</cp:coreProperties>
</file>